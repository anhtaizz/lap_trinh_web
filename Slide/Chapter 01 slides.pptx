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officedocument.wordprocessingml.document" Extension="docx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wordprocessingml.document" PartName="/ppt/embeddings/Microsoft_Office_Word_Document5.docx"/>
  <Override ContentType="application/vnd.openxmlformats-officedocument.wordprocessingml.document" PartName="/ppt/embeddings/Microsoft_Office_Word_Document19.docx"/>
  <Override ContentType="application/vnd.openxmlformats-officedocument.wordprocessingml.document" PartName="/ppt/embeddings/Microsoft_Office_Word_Document13.docx"/>
  <Override ContentType="application/vnd.openxmlformats-officedocument.wordprocessingml.document" PartName="/ppt/embeddings/Microsoft_Office_Word_Document2.docx"/>
  <Override ContentType="application/vnd.openxmlformats-officedocument.wordprocessingml.document" PartName="/ppt/embeddings/Microsoft_Office_Word_Document16.docx"/>
  <Override ContentType="application/vnd.openxmlformats-officedocument.wordprocessingml.document" PartName="/ppt/embeddings/Microsoft_Office_Word_Document21.docx"/>
  <Override ContentType="application/vnd.openxmlformats-officedocument.wordprocessingml.document" PartName="/ppt/embeddings/Microsoft_Office_Word_Document10.docx"/>
  <Override ContentType="application/vnd.openxmlformats-officedocument.wordprocessingml.document" PartName="/ppt/embeddings/Microsoft_Office_Word_Document24.docx"/>
  <Override ContentType="application/vnd.openxmlformats-officedocument.wordprocessingml.document" PartName="/ppt/embeddings/Microsoft_Office_Word_Document27.docx"/>
  <Override ContentType="application/vnd.openxmlformats-officedocument.wordprocessingml.document" PartName="/ppt/embeddings/Microsoft_Office_Word_Document8.docx"/>
  <Override ContentType="application/vnd.openxmlformats-officedocument.wordprocessingml.document" PartName="/ppt/embeddings/Microsoft_Office_Word_Document20.docx"/>
  <Override ContentType="application/vnd.openxmlformats-officedocument.wordprocessingml.document" PartName="/ppt/embeddings/Microsoft_Office_Word_Document23.docx"/>
  <Override ContentType="application/vnd.openxmlformats-officedocument.wordprocessingml.document" PartName="/ppt/embeddings/Microsoft_Office_Word_Document29.docx"/>
  <Override ContentType="application/vnd.openxmlformats-officedocument.wordprocessingml.document" PartName="/ppt/embeddings/Microsoft_Office_Word_Document12.docx"/>
  <Override ContentType="application/vnd.openxmlformats-officedocument.wordprocessingml.document" PartName="/ppt/embeddings/Microsoft_Office_Word_Document15.docx"/>
  <Override ContentType="application/vnd.openxmlformats-officedocument.wordprocessingml.document" PartName="/ppt/embeddings/Microsoft_Office_Word_Document1.docx"/>
  <Override ContentType="application/vnd.openxmlformats-officedocument.wordprocessingml.document" PartName="/ppt/embeddings/Microsoft_Office_Word_Document18.docx"/>
  <Override ContentType="application/vnd.openxmlformats-officedocument.wordprocessingml.document" PartName="/ppt/embeddings/Microsoft_Office_Word_Document9.docx"/>
  <Override ContentType="application/vnd.openxmlformats-officedocument.wordprocessingml.document" PartName="/ppt/embeddings/Microsoft_Office_Word_Document7.docx"/>
  <Override ContentType="application/vnd.openxmlformats-officedocument.wordprocessingml.document" PartName="/ppt/embeddings/Microsoft_Office_Word_Document26.docx"/>
  <Override ContentType="application/vnd.openxmlformats-officedocument.wordprocessingml.document" PartName="/ppt/embeddings/Microsoft_Office_Word_Document4.docx"/>
  <Override ContentType="application/vnd.openxmlformats-officedocument.wordprocessingml.document" PartName="/ppt/embeddings/Microsoft_Office_Word_Document28.docx"/>
  <Override ContentType="application/vnd.openxmlformats-officedocument.wordprocessingml.document" PartName="/ppt/embeddings/Microsoft_Office_Word_Document11.docx"/>
  <Override ContentType="application/vnd.openxmlformats-officedocument.wordprocessingml.document" PartName="/ppt/embeddings/Microsoft_Office_Word_Document17.docx"/>
  <Override ContentType="application/vnd.openxmlformats-officedocument.wordprocessingml.document" PartName="/ppt/embeddings/Microsoft_Office_Word_Document25.docx"/>
  <Override ContentType="application/vnd.openxmlformats-officedocument.wordprocessingml.document" PartName="/ppt/embeddings/Microsoft_Office_Word_Document6.docx"/>
  <Override ContentType="application/vnd.openxmlformats-officedocument.wordprocessingml.document" PartName="/ppt/embeddings/Microsoft_Office_Word_Document3.docx"/>
  <Override ContentType="application/vnd.openxmlformats-officedocument.wordprocessingml.document" PartName="/ppt/embeddings/Microsoft_Office_Word_Document22.docx"/>
  <Override ContentType="application/vnd.openxmlformats-officedocument.wordprocessingml.document" PartName="/ppt/embeddings/Microsoft_Office_Word_Document30.docx"/>
  <Override ContentType="application/vnd.openxmlformats-officedocument.wordprocessingml.document" PartName="/ppt/embeddings/Microsoft_Office_Word_Document14.docx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6858000" cy="9144000"/>
  <p:embeddedFontLst>
    <p:embeddedFont>
      <p:font typeface="Arial Narrow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F6yCjYcJg5WMblF30BO6QLeI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BC609F-5389-44CE-A4ED-5570D8A84CB0}">
  <a:tblStyle styleId="{B1BC609F-5389-44CE-A4ED-5570D8A84CB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fill>
          <a:solidFill>
            <a:srgbClr val="CAECDD"/>
          </a:solidFill>
        </a:fill>
      </a:tcStyle>
    </a:band1H>
    <a:band2H>
      <a:tcTxStyle/>
    </a:band2H>
    <a:band1V>
      <a:tcTxStyle/>
      <a:tcStyle>
        <a:fill>
          <a:solidFill>
            <a:srgbClr val="CAECDD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F6EF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F6E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ArialNarrow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rialNarrow-italic.fntdata"/><Relationship Id="rId12" Type="http://schemas.openxmlformats.org/officeDocument/2006/relationships/slide" Target="slides/slide6.xml"/><Relationship Id="rId34" Type="http://schemas.openxmlformats.org/officeDocument/2006/relationships/font" Target="fonts/ArialNarrow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ArialNarrow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4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5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7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7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20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43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23.png"/></Relationships>
</file>

<file path=ppt/drawings/_rels/vmlDrawing17.vml.rels><?xml version="1.0" encoding="UTF-8" standalone="yes"?>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26.png"/></Relationships>
</file>

<file path=ppt/drawings/_rels/vmlDrawing18.vml.rels><?xml version="1.0" encoding="UTF-8" standalone="yes"?>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28.png"/></Relationships>
</file>

<file path=ppt/drawings/_rels/vmlDrawing19.vml.rels><?xml version="1.0" encoding="UTF-8" standalone="yes"?><Relationships xmlns="http://schemas.openxmlformats.org/package/2006/relationships"><Relationship Id="rId1" Type="http://schemas.openxmlformats.org/officeDocument/2006/relationships/image" Target="../media/image42.png"/></Relationships>
</file>

<file path=ppt/drawings/_rels/vmlDrawing20.vml.rels><?xml version="1.0" encoding="UTF-8" standalone="yes"?><Relationships xmlns="http://schemas.openxmlformats.org/package/2006/relationships"><Relationship Id="rId1" Type="http://schemas.openxmlformats.org/officeDocument/2006/relationships/image" Target="../media/image3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Môn đầu tiên học về lập trình có kiến trúc cao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-US"/>
              <a:t>LT C/C++/Java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-US"/>
              <a:t>LTHDT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-"/>
            </a:pPr>
            <a:r>
              <a:rPr lang="en-US"/>
              <a:t>CTDLGT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Đoạn chương trình =&gt; chức năng đơn lẻ, chưa thể hiện kiến trúc phần mềm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LTW sát với những phần mềm ngoài thực tế, các bạn sẽ đi làm, những bạn học giỏi thậm chí có thể đi làm được luôn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Trường đi theo trục Java – hầu hết các môn sẽ theo Java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Slide tiếng Anh</a:t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servelet: ứng dụng chạy phía server, JSP: trang web nhúng code java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Ít dung để phát triển thực tế, tuy nhiên là kiến thức nền tảng trước khi có thể hiểu được những công nghệ mới hơn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browser – trình duyệt: chương trình dung để duyệt web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Gõ địa chỉ o trên cùng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Đằng sau cái giao diện này là cái gì? Làm sao để tạo được ra một trang web hoàn chỉnh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Sau môn học này, các bạn có thể phát triển được những website chúng ta thường thấy trên web</a:t>
            </a:r>
            <a:endParaRPr/>
          </a:p>
        </p:txBody>
      </p:sp>
      <p:sp>
        <p:nvSpPr>
          <p:cNvPr id="92" name="Google Shape;92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Trang web co the cho nguoi dung tuong tac nguoc tro lai</a:t>
            </a:r>
            <a:endParaRPr/>
          </a:p>
        </p:txBody>
      </p:sp>
      <p:sp>
        <p:nvSpPr>
          <p:cNvPr id="102" name="Google Shape;102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Dạng phần mềm nào?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Stand-alone: desktop app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P2P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Client server: triển khai trên 1 máy và nhiều máy có thể tương tác và sử dụng được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Cho ví dụ?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Thick client vs Thin client – web browser thường là thin</a:t>
            </a:r>
            <a:endParaRPr/>
          </a:p>
        </p:txBody>
      </p:sp>
      <p:sp>
        <p:nvSpPr>
          <p:cNvPr id="112" name="Google Shape;112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/>
              <a:t>Phan biet giua Web dong va web tinh (web 1.0, 2.0 va 3.0)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Tĩnh ở chỗ nào? Động ở chỗ nào?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Nhiệm vụ của các bạn trong khóa này là làm cái gì trong mô hình dưới?</a:t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title"/>
          </p:nvPr>
        </p:nvSpPr>
        <p:spPr>
          <a:xfrm>
            <a:off x="685800" y="685800"/>
            <a:ext cx="7772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33C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>
                <a:solidFill>
                  <a:srgbClr val="0033C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1.docx"/><Relationship Id="rId5" Type="http://schemas.openxmlformats.org/officeDocument/2006/relationships/package" Target="../embeddings/Microsoft_Office_Word_Document1.docx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package" Target="../embeddings/Microsoft_Office_Word_Document2.docx"/><Relationship Id="rId9" Type="http://schemas.openxmlformats.org/officeDocument/2006/relationships/image" Target="../media/image5.png"/><Relationship Id="rId5" Type="http://schemas.openxmlformats.org/officeDocument/2006/relationships/package" Target="../embeddings/Microsoft_Office_Word_Document2.docx"/><Relationship Id="rId6" Type="http://schemas.openxmlformats.org/officeDocument/2006/relationships/image" Target="../media/image16.png"/><Relationship Id="rId7" Type="http://schemas.openxmlformats.org/officeDocument/2006/relationships/package" Target="../embeddings/Microsoft_Office_Word_Document3.docx"/><Relationship Id="rId8" Type="http://schemas.openxmlformats.org/officeDocument/2006/relationships/package" Target="../embeddings/Microsoft_Office_Word_Document3.docx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3.vml"/><Relationship Id="rId4" Type="http://schemas.openxmlformats.org/officeDocument/2006/relationships/package" Target="../embeddings/Microsoft_Office_Word_Document4.docx"/><Relationship Id="rId9" Type="http://schemas.openxmlformats.org/officeDocument/2006/relationships/image" Target="../media/image2.png"/><Relationship Id="rId5" Type="http://schemas.openxmlformats.org/officeDocument/2006/relationships/package" Target="../embeddings/Microsoft_Office_Word_Document4.docx"/><Relationship Id="rId6" Type="http://schemas.openxmlformats.org/officeDocument/2006/relationships/image" Target="../media/image19.png"/><Relationship Id="rId7" Type="http://schemas.openxmlformats.org/officeDocument/2006/relationships/package" Target="../embeddings/Microsoft_Office_Word_Document5.docx"/><Relationship Id="rId8" Type="http://schemas.openxmlformats.org/officeDocument/2006/relationships/package" Target="../embeddings/Microsoft_Office_Word_Document5.docx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4.vml"/><Relationship Id="rId4" Type="http://schemas.openxmlformats.org/officeDocument/2006/relationships/package" Target="../embeddings/Microsoft_Office_Word_Document6.docx"/><Relationship Id="rId5" Type="http://schemas.openxmlformats.org/officeDocument/2006/relationships/package" Target="../embeddings/Microsoft_Office_Word_Document6.docx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5.vml"/><Relationship Id="rId4" Type="http://schemas.openxmlformats.org/officeDocument/2006/relationships/package" Target="../embeddings/Microsoft_Office_Word_Document7.docx"/><Relationship Id="rId5" Type="http://schemas.openxmlformats.org/officeDocument/2006/relationships/package" Target="../embeddings/Microsoft_Office_Word_Document7.docx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6.vml"/><Relationship Id="rId4" Type="http://schemas.openxmlformats.org/officeDocument/2006/relationships/package" Target="../embeddings/Microsoft_Office_Word_Document8.docx"/><Relationship Id="rId9" Type="http://schemas.openxmlformats.org/officeDocument/2006/relationships/image" Target="../media/image4.png"/><Relationship Id="rId5" Type="http://schemas.openxmlformats.org/officeDocument/2006/relationships/package" Target="../embeddings/Microsoft_Office_Word_Document8.docx"/><Relationship Id="rId6" Type="http://schemas.openxmlformats.org/officeDocument/2006/relationships/image" Target="../media/image11.png"/><Relationship Id="rId7" Type="http://schemas.openxmlformats.org/officeDocument/2006/relationships/oleObject" Target="../embeddings/oleObject1.bin"/><Relationship Id="rId8" Type="http://schemas.openxmlformats.org/officeDocument/2006/relationships/oleObject" Target="../embeddings/oleObject1.bin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7.vml"/><Relationship Id="rId4" Type="http://schemas.openxmlformats.org/officeDocument/2006/relationships/package" Target="../embeddings/Microsoft_Office_Word_Document9.docx"/><Relationship Id="rId11" Type="http://schemas.openxmlformats.org/officeDocument/2006/relationships/image" Target="../media/image3.png"/><Relationship Id="rId10" Type="http://schemas.openxmlformats.org/officeDocument/2006/relationships/image" Target="../media/image25.png"/><Relationship Id="rId9" Type="http://schemas.openxmlformats.org/officeDocument/2006/relationships/package" Target="../embeddings/Microsoft_Office_Word_Document10.docx"/><Relationship Id="rId5" Type="http://schemas.openxmlformats.org/officeDocument/2006/relationships/package" Target="../embeddings/Microsoft_Office_Word_Document9.docx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package" Target="../embeddings/Microsoft_Office_Word_Document10.docx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8.vml"/><Relationship Id="rId4" Type="http://schemas.openxmlformats.org/officeDocument/2006/relationships/package" Target="../embeddings/Microsoft_Office_Word_Document11.docx"/><Relationship Id="rId9" Type="http://schemas.openxmlformats.org/officeDocument/2006/relationships/image" Target="../media/image17.png"/><Relationship Id="rId5" Type="http://schemas.openxmlformats.org/officeDocument/2006/relationships/package" Target="../embeddings/Microsoft_Office_Word_Document11.docx"/><Relationship Id="rId6" Type="http://schemas.openxmlformats.org/officeDocument/2006/relationships/image" Target="../media/image22.png"/><Relationship Id="rId7" Type="http://schemas.openxmlformats.org/officeDocument/2006/relationships/package" Target="../embeddings/Microsoft_Office_Word_Document12.docx"/><Relationship Id="rId8" Type="http://schemas.openxmlformats.org/officeDocument/2006/relationships/package" Target="../embeddings/Microsoft_Office_Word_Document12.docx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9.vml"/><Relationship Id="rId4" Type="http://schemas.openxmlformats.org/officeDocument/2006/relationships/package" Target="../embeddings/Microsoft_Office_Word_Document13.docx"/><Relationship Id="rId9" Type="http://schemas.openxmlformats.org/officeDocument/2006/relationships/image" Target="../media/image7.png"/><Relationship Id="rId5" Type="http://schemas.openxmlformats.org/officeDocument/2006/relationships/package" Target="../embeddings/Microsoft_Office_Word_Document13.docx"/><Relationship Id="rId6" Type="http://schemas.openxmlformats.org/officeDocument/2006/relationships/image" Target="../media/image21.png"/><Relationship Id="rId7" Type="http://schemas.openxmlformats.org/officeDocument/2006/relationships/package" Target="../embeddings/Microsoft_Office_Word_Document14.docx"/><Relationship Id="rId8" Type="http://schemas.openxmlformats.org/officeDocument/2006/relationships/package" Target="../embeddings/Microsoft_Office_Word_Document14.docx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10.vml"/><Relationship Id="rId4" Type="http://schemas.openxmlformats.org/officeDocument/2006/relationships/package" Target="../embeddings/Microsoft_Office_Word_Document15.docx"/><Relationship Id="rId5" Type="http://schemas.openxmlformats.org/officeDocument/2006/relationships/package" Target="../embeddings/Microsoft_Office_Word_Document15.docx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vmlDrawing" Target="../drawings/vmlDrawing11.vml"/><Relationship Id="rId4" Type="http://schemas.openxmlformats.org/officeDocument/2006/relationships/package" Target="../embeddings/Microsoft_Office_Word_Document16.docx"/><Relationship Id="rId5" Type="http://schemas.openxmlformats.org/officeDocument/2006/relationships/package" Target="../embeddings/Microsoft_Office_Word_Document16.docx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12.vml"/><Relationship Id="rId4" Type="http://schemas.openxmlformats.org/officeDocument/2006/relationships/package" Target="../embeddings/Microsoft_Office_Word_Document17.docx"/><Relationship Id="rId5" Type="http://schemas.openxmlformats.org/officeDocument/2006/relationships/package" Target="../embeddings/Microsoft_Office_Word_Document17.docx"/><Relationship Id="rId6" Type="http://schemas.openxmlformats.org/officeDocument/2006/relationships/image" Target="../media/image32.png"/><Relationship Id="rId7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vmlDrawing" Target="../drawings/vmlDrawing13.vml"/><Relationship Id="rId4" Type="http://schemas.openxmlformats.org/officeDocument/2006/relationships/package" Target="../embeddings/Microsoft_Office_Word_Document18.docx"/><Relationship Id="rId9" Type="http://schemas.openxmlformats.org/officeDocument/2006/relationships/image" Target="../media/image20.png"/><Relationship Id="rId5" Type="http://schemas.openxmlformats.org/officeDocument/2006/relationships/package" Target="../embeddings/Microsoft_Office_Word_Document18.docx"/><Relationship Id="rId6" Type="http://schemas.openxmlformats.org/officeDocument/2006/relationships/image" Target="../media/image31.png"/><Relationship Id="rId7" Type="http://schemas.openxmlformats.org/officeDocument/2006/relationships/package" Target="../embeddings/Microsoft_Office_Word_Document19.docx"/><Relationship Id="rId8" Type="http://schemas.openxmlformats.org/officeDocument/2006/relationships/package" Target="../embeddings/Microsoft_Office_Word_Document19.docx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vmlDrawing" Target="../drawings/vmlDrawing14.vml"/><Relationship Id="rId4" Type="http://schemas.openxmlformats.org/officeDocument/2006/relationships/package" Target="../embeddings/Microsoft_Office_Word_Document20.docx"/><Relationship Id="rId5" Type="http://schemas.openxmlformats.org/officeDocument/2006/relationships/package" Target="../embeddings/Microsoft_Office_Word_Document20.docx"/><Relationship Id="rId6" Type="http://schemas.openxmlformats.org/officeDocument/2006/relationships/image" Target="../media/image29.png"/><Relationship Id="rId7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vmlDrawing" Target="../drawings/vmlDrawing15.vml"/><Relationship Id="rId4" Type="http://schemas.openxmlformats.org/officeDocument/2006/relationships/package" Target="../embeddings/Microsoft_Office_Word_Document21.docx"/><Relationship Id="rId9" Type="http://schemas.openxmlformats.org/officeDocument/2006/relationships/image" Target="../media/image43.png"/><Relationship Id="rId5" Type="http://schemas.openxmlformats.org/officeDocument/2006/relationships/package" Target="../embeddings/Microsoft_Office_Word_Document21.docx"/><Relationship Id="rId6" Type="http://schemas.openxmlformats.org/officeDocument/2006/relationships/image" Target="../media/image37.png"/><Relationship Id="rId7" Type="http://schemas.openxmlformats.org/officeDocument/2006/relationships/package" Target="../embeddings/Microsoft_Office_Word_Document22.docx"/><Relationship Id="rId8" Type="http://schemas.openxmlformats.org/officeDocument/2006/relationships/package" Target="../embeddings/Microsoft_Office_Word_Document22.docx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vmlDrawing" Target="../drawings/vmlDrawing16.vml"/><Relationship Id="rId4" Type="http://schemas.openxmlformats.org/officeDocument/2006/relationships/package" Target="../embeddings/Microsoft_Office_Word_Document23.docx"/><Relationship Id="rId9" Type="http://schemas.openxmlformats.org/officeDocument/2006/relationships/image" Target="../media/image23.png"/><Relationship Id="rId5" Type="http://schemas.openxmlformats.org/officeDocument/2006/relationships/package" Target="../embeddings/Microsoft_Office_Word_Document23.docx"/><Relationship Id="rId6" Type="http://schemas.openxmlformats.org/officeDocument/2006/relationships/image" Target="../media/image34.png"/><Relationship Id="rId7" Type="http://schemas.openxmlformats.org/officeDocument/2006/relationships/package" Target="../embeddings/Microsoft_Office_Word_Document24.docx"/><Relationship Id="rId8" Type="http://schemas.openxmlformats.org/officeDocument/2006/relationships/package" Target="../embeddings/Microsoft_Office_Word_Document24.docx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vmlDrawing" Target="../drawings/vmlDrawing17.vml"/><Relationship Id="rId4" Type="http://schemas.openxmlformats.org/officeDocument/2006/relationships/package" Target="../embeddings/Microsoft_Office_Word_Document25.docx"/><Relationship Id="rId9" Type="http://schemas.openxmlformats.org/officeDocument/2006/relationships/image" Target="../media/image26.png"/><Relationship Id="rId5" Type="http://schemas.openxmlformats.org/officeDocument/2006/relationships/package" Target="../embeddings/Microsoft_Office_Word_Document25.docx"/><Relationship Id="rId6" Type="http://schemas.openxmlformats.org/officeDocument/2006/relationships/image" Target="../media/image35.png"/><Relationship Id="rId7" Type="http://schemas.openxmlformats.org/officeDocument/2006/relationships/package" Target="../embeddings/Microsoft_Office_Word_Document26.docx"/><Relationship Id="rId8" Type="http://schemas.openxmlformats.org/officeDocument/2006/relationships/package" Target="../embeddings/Microsoft_Office_Word_Document26.docx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18.vml"/><Relationship Id="rId4" Type="http://schemas.openxmlformats.org/officeDocument/2006/relationships/package" Target="../embeddings/Microsoft_Office_Word_Document27.docx"/><Relationship Id="rId9" Type="http://schemas.openxmlformats.org/officeDocument/2006/relationships/image" Target="../media/image28.png"/><Relationship Id="rId5" Type="http://schemas.openxmlformats.org/officeDocument/2006/relationships/package" Target="../embeddings/Microsoft_Office_Word_Document27.docx"/><Relationship Id="rId6" Type="http://schemas.openxmlformats.org/officeDocument/2006/relationships/image" Target="../media/image38.png"/><Relationship Id="rId7" Type="http://schemas.openxmlformats.org/officeDocument/2006/relationships/package" Target="../embeddings/Microsoft_Office_Word_Document28.docx"/><Relationship Id="rId8" Type="http://schemas.openxmlformats.org/officeDocument/2006/relationships/package" Target="../embeddings/Microsoft_Office_Word_Document28.docx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vmlDrawing" Target="../drawings/vmlDrawing19.vml"/><Relationship Id="rId4" Type="http://schemas.openxmlformats.org/officeDocument/2006/relationships/package" Target="../embeddings/Microsoft_Office_Word_Document29.docx"/><Relationship Id="rId5" Type="http://schemas.openxmlformats.org/officeDocument/2006/relationships/package" Target="../embeddings/Microsoft_Office_Word_Document29.docx"/><Relationship Id="rId6" Type="http://schemas.openxmlformats.org/officeDocument/2006/relationships/image" Target="../media/image42.png"/><Relationship Id="rId7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20.vml"/><Relationship Id="rId4" Type="http://schemas.openxmlformats.org/officeDocument/2006/relationships/package" Target="../embeddings/Microsoft_Office_Word_Document30.docx"/><Relationship Id="rId5" Type="http://schemas.openxmlformats.org/officeDocument/2006/relationships/package" Target="../embeddings/Microsoft_Office_Word_Document30.docx"/><Relationship Id="rId6" Type="http://schemas.openxmlformats.org/officeDocument/2006/relationships/image" Target="../media/image39.png"/><Relationship Id="rId7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31" name="Google Shape;31;p1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32" name="Google Shape;32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3" name="Google Shape;33;p1"/>
          <p:cNvGraphicFramePr/>
          <p:nvPr/>
        </p:nvGraphicFramePr>
        <p:xfrm>
          <a:off x="914400" y="1600200"/>
          <a:ext cx="7301323" cy="2959022"/>
        </p:xfrm>
        <a:graphic>
          <a:graphicData uri="http://schemas.openxmlformats.org/presentationml/2006/ole">
            <mc:AlternateContent>
              <mc:Choice Requires="v">
                <p:oleObj r:id="rId4" imgH="2959022" imgW="7301323" progId="" spid="_x0000_s1">
                  <p:embed/>
                </p:oleObj>
              </mc:Choice>
              <mc:Fallback>
                <p:oleObj r:id="rId5" imgH="2959022" imgW="7301323" progId="">
                  <p:embed/>
                  <p:pic>
                    <p:nvPicPr>
                      <p:cNvPr id="33" name="Google Shape;33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600200"/>
                        <a:ext cx="7301323" cy="2959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Contact information of Lecturer</a:t>
            </a:r>
            <a:endParaRPr/>
          </a:p>
        </p:txBody>
      </p:sp>
      <p:sp>
        <p:nvSpPr>
          <p:cNvPr id="39" name="Google Shape;39;p2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40" name="Google Shape;40;p2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1447800"/>
            <a:ext cx="7010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Đình Quân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quannd@ptit.edu.vn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number: 0902905335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syllabus</a:t>
            </a:r>
            <a:endParaRPr/>
          </a:p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914400" y="1447800"/>
            <a:ext cx="70104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Introduction to Web programming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HTML/CSS/Javascript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MVC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Java Servlets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Java Server Pages (JSP)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Session and Cookies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Java Beans/JSP Expression Language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JSP Standard Tag Library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JDBC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Spring Framework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Spring Data JPA/Hibernate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Java Web Services/Spring Rest API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58" name="Google Shape;58;p4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60" name="Google Shape;60;p4"/>
          <p:cNvGraphicFramePr/>
          <p:nvPr/>
        </p:nvGraphicFramePr>
        <p:xfrm>
          <a:off x="914400" y="685800"/>
          <a:ext cx="7301321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1" progId="" spid="_x0000_s1">
                  <p:embed/>
                </p:oleObj>
              </mc:Choice>
              <mc:Fallback>
                <p:oleObj r:id="rId5" imgH="426678" imgW="7301321" progId="">
                  <p:embed/>
                  <p:pic>
                    <p:nvPicPr>
                      <p:cNvPr id="60" name="Google Shape;60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1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Google Shape;61;p4"/>
          <p:cNvGraphicFramePr/>
          <p:nvPr/>
        </p:nvGraphicFramePr>
        <p:xfrm>
          <a:off x="914400" y="1143000"/>
          <a:ext cx="7301324" cy="4966389"/>
        </p:xfrm>
        <a:graphic>
          <a:graphicData uri="http://schemas.openxmlformats.org/presentationml/2006/ole">
            <mc:AlternateContent>
              <mc:Choice Requires="v">
                <p:oleObj r:id="rId7" imgH="4966389" imgW="7301324" progId="" spid="_x0000_s2">
                  <p:embed/>
                </p:oleObj>
              </mc:Choice>
              <mc:Fallback>
                <p:oleObj r:id="rId8" imgH="4966389" imgW="7301324" progId="">
                  <p:embed/>
                  <p:pic>
                    <p:nvPicPr>
                      <p:cNvPr id="61" name="Google Shape;61;p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1324" cy="4966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idx="10" type="dt"/>
          </p:nvPr>
        </p:nvSpPr>
        <p:spPr>
          <a:xfrm>
            <a:off x="762000" y="62484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67" name="Google Shape;67;p5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69" name="Google Shape;69;p5"/>
          <p:cNvGraphicFramePr/>
          <p:nvPr/>
        </p:nvGraphicFramePr>
        <p:xfrm>
          <a:off x="914400" y="685800"/>
          <a:ext cx="7301321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1" progId="" spid="_x0000_s1">
                  <p:embed/>
                </p:oleObj>
              </mc:Choice>
              <mc:Fallback>
                <p:oleObj r:id="rId5" imgH="426678" imgW="7301321" progId="">
                  <p:embed/>
                  <p:pic>
                    <p:nvPicPr>
                      <p:cNvPr id="69" name="Google Shape;69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1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Google Shape;70;p5"/>
          <p:cNvGraphicFramePr/>
          <p:nvPr/>
        </p:nvGraphicFramePr>
        <p:xfrm>
          <a:off x="914400" y="1143000"/>
          <a:ext cx="7301325" cy="1981442"/>
        </p:xfrm>
        <a:graphic>
          <a:graphicData uri="http://schemas.openxmlformats.org/presentationml/2006/ole">
            <mc:AlternateContent>
              <mc:Choice Requires="v">
                <p:oleObj r:id="rId7" imgH="1981442" imgW="7301325" progId="" spid="_x0000_s2">
                  <p:embed/>
                </p:oleObj>
              </mc:Choice>
              <mc:Fallback>
                <p:oleObj r:id="rId8" imgH="1981442" imgW="7301325" progId="">
                  <p:embed/>
                  <p:pic>
                    <p:nvPicPr>
                      <p:cNvPr id="70" name="Google Shape;70;p5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1325" cy="1981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materials</a:t>
            </a:r>
            <a:endParaRPr/>
          </a:p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14400" y="1166843"/>
            <a:ext cx="76962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Murach, M. Urban. Murach’s Java Servlet and JSP. 3rd Edition”, 2014.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in Action, 5th Edition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Bài giảng Lập trình Web, Học viện Công nghệ Bưu chính Viễn thông.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Classroom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grade?</a:t>
            </a:r>
            <a:endParaRPr/>
          </a:p>
        </p:txBody>
      </p:sp>
      <p:sp>
        <p:nvSpPr>
          <p:cNvPr id="85" name="Google Shape;85;p7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86" name="Google Shape;86;p7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87" name="Google Shape;87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88" name="Google Shape;88;p7"/>
          <p:cNvGraphicFramePr/>
          <p:nvPr/>
        </p:nvGraphicFramePr>
        <p:xfrm>
          <a:off x="15240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{B1BC609F-5389-44CE-A4ED-5570D8A84CB0}</a:tableStyleId>
              </a:tblPr>
              <a:tblGrid>
                <a:gridCol w="2108200"/>
                <a:gridCol w="2108200"/>
                <a:gridCol w="2108200"/>
              </a:tblGrid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Chuyên cần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10%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Slink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20%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 buổi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Project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20%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Nhóm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7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Final exam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50%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Thi phòng máy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idx="10" type="dt"/>
          </p:nvPr>
        </p:nvSpPr>
        <p:spPr>
          <a:xfrm>
            <a:off x="762000" y="6248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95" name="Google Shape;95;p8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97" name="Google Shape;97;p8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97" name="Google Shape;97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8" name="Google Shape;9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117600"/>
            <a:ext cx="7315200" cy="4870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07" name="Google Shape;107;p9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07" name="Google Shape;107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" name="Google Shape;10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152525"/>
            <a:ext cx="7325638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15" name="Google Shape;115;p10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16" name="Google Shape;116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17" name="Google Shape;117;p10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17" name="Google Shape;117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Google Shape;118;p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" name="Google Shape;119;p10"/>
          <p:cNvGraphicFramePr/>
          <p:nvPr/>
        </p:nvGraphicFramePr>
        <p:xfrm>
          <a:off x="914400" y="1219200"/>
          <a:ext cx="6953250" cy="2676525"/>
        </p:xfrm>
        <a:graphic>
          <a:graphicData uri="http://schemas.openxmlformats.org/presentationml/2006/ole">
            <mc:AlternateContent>
              <mc:Choice Requires="v">
                <p:oleObj r:id="rId7" imgH="2676525" imgW="6953250" progId="Visio.Drawing.11" spid="_x0000_s2">
                  <p:embed/>
                </p:oleObj>
              </mc:Choice>
              <mc:Fallback>
                <p:oleObj r:id="rId8" imgH="2676525" imgW="6953250" progId="Visio.Drawing.11">
                  <p:embed/>
                  <p:pic>
                    <p:nvPicPr>
                      <p:cNvPr id="119" name="Google Shape;119;p10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219200"/>
                        <a:ext cx="6953250" cy="267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idx="10" type="dt"/>
          </p:nvPr>
        </p:nvSpPr>
        <p:spPr>
          <a:xfrm>
            <a:off x="7620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26" name="Google Shape;126;p11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8" name="Google Shape;128;p11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28" name="Google Shape;128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9" name="Google Shape;12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3820" y="1143000"/>
            <a:ext cx="5504180" cy="1590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1"/>
          <p:cNvGraphicFramePr/>
          <p:nvPr/>
        </p:nvGraphicFramePr>
        <p:xfrm>
          <a:off x="914400" y="2895600"/>
          <a:ext cx="7301323" cy="617153"/>
        </p:xfrm>
        <a:graphic>
          <a:graphicData uri="http://schemas.openxmlformats.org/presentationml/2006/ole">
            <mc:AlternateContent>
              <mc:Choice Requires="v">
                <p:oleObj r:id="rId8" imgH="617153" imgW="7301323" progId="" spid="_x0000_s2">
                  <p:embed/>
                </p:oleObj>
              </mc:Choice>
              <mc:Fallback>
                <p:oleObj r:id="rId9" imgH="617153" imgW="7301323" progId="">
                  <p:embed/>
                  <p:pic>
                    <p:nvPicPr>
                      <p:cNvPr id="130" name="Google Shape;130;p11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2895600"/>
                        <a:ext cx="7301323" cy="617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1" name="Google Shape;13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20165" y="3519170"/>
            <a:ext cx="6985635" cy="158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38" name="Google Shape;138;p12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39" name="Google Shape;139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40" name="Google Shape;140;p12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40" name="Google Shape;140;p1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Google Shape;141;p12"/>
          <p:cNvGraphicFramePr/>
          <p:nvPr/>
        </p:nvGraphicFramePr>
        <p:xfrm>
          <a:off x="914400" y="1143000"/>
          <a:ext cx="7300912" cy="4491038"/>
        </p:xfrm>
        <a:graphic>
          <a:graphicData uri="http://schemas.openxmlformats.org/presentationml/2006/ole">
            <mc:AlternateContent>
              <mc:Choice Requires="v">
                <p:oleObj r:id="rId7" imgH="4491038" imgW="7300912" progId="" spid="_x0000_s2">
                  <p:embed/>
                </p:oleObj>
              </mc:Choice>
              <mc:Fallback>
                <p:oleObj r:id="rId8" imgH="4491038" imgW="7300912" progId="">
                  <p:embed/>
                  <p:pic>
                    <p:nvPicPr>
                      <p:cNvPr id="141" name="Google Shape;141;p1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0912" cy="449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idx="10" type="dt"/>
          </p:nvPr>
        </p:nvSpPr>
        <p:spPr>
          <a:xfrm>
            <a:off x="762000" y="6248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47" name="Google Shape;147;p13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49" name="Google Shape;149;p13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49" name="Google Shape;149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Google Shape;150;p13"/>
          <p:cNvGraphicFramePr/>
          <p:nvPr/>
        </p:nvGraphicFramePr>
        <p:xfrm>
          <a:off x="914400" y="1143000"/>
          <a:ext cx="7301323" cy="3488319"/>
        </p:xfrm>
        <a:graphic>
          <a:graphicData uri="http://schemas.openxmlformats.org/presentationml/2006/ole">
            <mc:AlternateContent>
              <mc:Choice Requires="v">
                <p:oleObj r:id="rId7" imgH="3488319" imgW="7301323" progId="" spid="_x0000_s2">
                  <p:embed/>
                </p:oleObj>
              </mc:Choice>
              <mc:Fallback>
                <p:oleObj r:id="rId8" imgH="3488319" imgW="7301323" progId="">
                  <p:embed/>
                  <p:pic>
                    <p:nvPicPr>
                      <p:cNvPr id="150" name="Google Shape;150;p1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1323" cy="3488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idx="10" type="dt"/>
          </p:nvPr>
        </p:nvSpPr>
        <p:spPr>
          <a:xfrm>
            <a:off x="7620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56" name="Google Shape;156;p14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58" name="Google Shape;158;p14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58" name="Google Shape;158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9" name="Google Shape;15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5405" y="1137285"/>
            <a:ext cx="5751195" cy="442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idx="10" type="dt"/>
          </p:nvPr>
        </p:nvSpPr>
        <p:spPr>
          <a:xfrm>
            <a:off x="7620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65" name="Google Shape;165;p15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67" name="Google Shape;167;p15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67" name="Google Shape;167;p1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8" name="Google Shape;16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5405" y="1143000"/>
            <a:ext cx="5751195" cy="491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idx="10" type="dt"/>
          </p:nvPr>
        </p:nvSpPr>
        <p:spPr>
          <a:xfrm>
            <a:off x="7620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74" name="Google Shape;174;p16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75" name="Google Shape;175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76" name="Google Shape;176;p16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76" name="Google Shape;176;p1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7" name="Google Shape;17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3820" y="1146175"/>
            <a:ext cx="6189980" cy="44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idx="10" type="dt"/>
          </p:nvPr>
        </p:nvSpPr>
        <p:spPr>
          <a:xfrm>
            <a:off x="7620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83" name="Google Shape;183;p17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84" name="Google Shape;184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85" name="Google Shape;185;p17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85" name="Google Shape;185;p1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Google Shape;186;p17"/>
          <p:cNvGraphicFramePr/>
          <p:nvPr/>
        </p:nvGraphicFramePr>
        <p:xfrm>
          <a:off x="914400" y="1143000"/>
          <a:ext cx="7560585" cy="4149400"/>
        </p:xfrm>
        <a:graphic>
          <a:graphicData uri="http://schemas.openxmlformats.org/presentationml/2006/ole">
            <mc:AlternateContent>
              <mc:Choice Requires="v">
                <p:oleObj r:id="rId7" imgH="4149400" imgW="7560585" progId="" spid="_x0000_s2">
                  <p:embed/>
                </p:oleObj>
              </mc:Choice>
              <mc:Fallback>
                <p:oleObj r:id="rId8" imgH="4149400" imgW="7560585" progId="">
                  <p:embed/>
                  <p:pic>
                    <p:nvPicPr>
                      <p:cNvPr id="186" name="Google Shape;186;p17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560585" cy="41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192" name="Google Shape;192;p18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193" name="Google Shape;193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94" name="Google Shape;194;p18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194" name="Google Shape;194;p1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109980"/>
            <a:ext cx="7010400" cy="5059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01" name="Google Shape;201;p19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03" name="Google Shape;203;p19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03" name="Google Shape;203;p1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Google Shape;204;p19"/>
          <p:cNvGraphicFramePr/>
          <p:nvPr/>
        </p:nvGraphicFramePr>
        <p:xfrm>
          <a:off x="914400" y="1143000"/>
          <a:ext cx="7300912" cy="1160463"/>
        </p:xfrm>
        <a:graphic>
          <a:graphicData uri="http://schemas.openxmlformats.org/presentationml/2006/ole">
            <mc:AlternateContent>
              <mc:Choice Requires="v">
                <p:oleObj r:id="rId7" imgH="1160463" imgW="7300912" progId="" spid="_x0000_s2">
                  <p:embed/>
                </p:oleObj>
              </mc:Choice>
              <mc:Fallback>
                <p:oleObj r:id="rId8" imgH="1160463" imgW="7300912" progId="">
                  <p:embed/>
                  <p:pic>
                    <p:nvPicPr>
                      <p:cNvPr id="204" name="Google Shape;204;p19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0912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10" name="Google Shape;210;p20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12" name="Google Shape;212;p20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12" name="Google Shape;212;p2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" name="Google Shape;213;p20"/>
          <p:cNvGraphicFramePr/>
          <p:nvPr/>
        </p:nvGraphicFramePr>
        <p:xfrm>
          <a:off x="914400" y="1143000"/>
          <a:ext cx="7301323" cy="3596339"/>
        </p:xfrm>
        <a:graphic>
          <a:graphicData uri="http://schemas.openxmlformats.org/presentationml/2006/ole">
            <mc:AlternateContent>
              <mc:Choice Requires="v">
                <p:oleObj r:id="rId7" imgH="3596339" imgW="7301323" progId="" spid="_x0000_s2">
                  <p:embed/>
                </p:oleObj>
              </mc:Choice>
              <mc:Fallback>
                <p:oleObj r:id="rId8" imgH="3596339" imgW="7301323" progId="">
                  <p:embed/>
                  <p:pic>
                    <p:nvPicPr>
                      <p:cNvPr id="213" name="Google Shape;213;p20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1323" cy="3596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idx="10" type="dt"/>
          </p:nvPr>
        </p:nvSpPr>
        <p:spPr>
          <a:xfrm>
            <a:off x="762000" y="62484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19" name="Google Shape;219;p21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20" name="Google Shape;220;p2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21" name="Google Shape;221;p21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21" name="Google Shape;221;p2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Google Shape;222;p21"/>
          <p:cNvGraphicFramePr/>
          <p:nvPr/>
        </p:nvGraphicFramePr>
        <p:xfrm>
          <a:off x="914400" y="1143000"/>
          <a:ext cx="7300912" cy="1546225"/>
        </p:xfrm>
        <a:graphic>
          <a:graphicData uri="http://schemas.openxmlformats.org/presentationml/2006/ole">
            <mc:AlternateContent>
              <mc:Choice Requires="v">
                <p:oleObj r:id="rId7" imgH="1546225" imgW="7300912" progId="" spid="_x0000_s2">
                  <p:embed/>
                </p:oleObj>
              </mc:Choice>
              <mc:Fallback>
                <p:oleObj r:id="rId8" imgH="1546225" imgW="7300912" progId="">
                  <p:embed/>
                  <p:pic>
                    <p:nvPicPr>
                      <p:cNvPr id="222" name="Google Shape;222;p21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0912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28" name="Google Shape;228;p22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30" name="Google Shape;230;p22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30" name="Google Shape;230;p2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Google Shape;231;p22"/>
          <p:cNvGraphicFramePr/>
          <p:nvPr/>
        </p:nvGraphicFramePr>
        <p:xfrm>
          <a:off x="914400" y="1143000"/>
          <a:ext cx="7301323" cy="3250315"/>
        </p:xfrm>
        <a:graphic>
          <a:graphicData uri="http://schemas.openxmlformats.org/presentationml/2006/ole">
            <mc:AlternateContent>
              <mc:Choice Requires="v">
                <p:oleObj r:id="rId7" imgH="3250315" imgW="7301323" progId="" spid="_x0000_s2">
                  <p:embed/>
                </p:oleObj>
              </mc:Choice>
              <mc:Fallback>
                <p:oleObj r:id="rId8" imgH="3250315" imgW="7301323" progId="">
                  <p:embed/>
                  <p:pic>
                    <p:nvPicPr>
                      <p:cNvPr id="231" name="Google Shape;231;p22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1143000"/>
                        <a:ext cx="7301323" cy="325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37" name="Google Shape;237;p23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38" name="Google Shape;238;p2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39" name="Google Shape;239;p23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39" name="Google Shape;239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0" name="Google Shape;24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143000"/>
            <a:ext cx="7291222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idx="10" type="dt"/>
          </p:nvPr>
        </p:nvSpPr>
        <p:spPr>
          <a:xfrm>
            <a:off x="762000" y="6248400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46" name="Google Shape;246;p24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>
              <mc:Choice Requires="v">
                <p:oleObj r:id="rId4" imgH="426678" imgW="7301323" progId="" spid="_x0000_s1">
                  <p:embed/>
                </p:oleObj>
              </mc:Choice>
              <mc:Fallback>
                <p:oleObj r:id="rId5" imgH="426678" imgW="7301323" progId="">
                  <p:embed/>
                  <p:pic>
                    <p:nvPicPr>
                      <p:cNvPr id="248" name="Google Shape;248;p2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9" name="Google Shape;24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1102995"/>
            <a:ext cx="7162800" cy="5060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WinSCP</a:t>
            </a:r>
            <a:endParaRPr/>
          </a:p>
        </p:txBody>
      </p:sp>
      <p:sp>
        <p:nvSpPr>
          <p:cNvPr id="255" name="Google Shape;255;p25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56" name="Google Shape;256;p25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57" name="Google Shape;257;p2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371600"/>
            <a:ext cx="8314271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title"/>
          </p:nvPr>
        </p:nvSpPr>
        <p:spPr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WinSCP – Synchronize </a:t>
            </a:r>
            <a:endParaRPr/>
          </a:p>
        </p:txBody>
      </p:sp>
      <p:sp>
        <p:nvSpPr>
          <p:cNvPr id="264" name="Google Shape;264;p26"/>
          <p:cNvSpPr txBox="1"/>
          <p:nvPr>
            <p:ph idx="10" type="dt"/>
          </p:nvPr>
        </p:nvSpPr>
        <p:spPr>
          <a:xfrm>
            <a:off x="762000" y="62484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Murach's Java Servlets/JSP (3rd Ed.), C1</a:t>
            </a:r>
            <a:endParaRPr/>
          </a:p>
        </p:txBody>
      </p:sp>
      <p:sp>
        <p:nvSpPr>
          <p:cNvPr id="265" name="Google Shape;265;p26"/>
          <p:cNvSpPr txBox="1"/>
          <p:nvPr>
            <p:ph idx="11" type="ftr"/>
          </p:nvPr>
        </p:nvSpPr>
        <p:spPr>
          <a:xfrm>
            <a:off x="2895600" y="62484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2014, Mike Murach &amp; Associates, Inc.</a:t>
            </a:r>
            <a:endParaRPr/>
          </a:p>
        </p:txBody>
      </p:sp>
      <p:sp>
        <p:nvSpPr>
          <p:cNvPr id="266" name="Google Shape;266;p2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Slide </a:t>
            </a:r>
            <a:fld id="{00000000-1234-1234-1234-123412341234}" type="slidenum">
              <a:rPr lang="en-US" sz="900"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9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52600"/>
            <a:ext cx="7279525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 slides_with_titles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2014-05-29T15:43:39Z</dcterms:created>
  <dc:creator>Maria David</dc:creator>
</cp:coreProperties>
</file>