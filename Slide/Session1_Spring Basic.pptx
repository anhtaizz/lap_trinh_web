
<file path=[Content_Types].xml><?xml version="1.0" encoding="utf-8"?>
<Types xmlns="http://schemas.openxmlformats.org/package/2006/content-types">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4" roundtripDataSignature="AMtx7mj3cgNEPyK5RT0MuXhs1mXmtsGA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customschemas.google.com/relationships/presentationmetadata" Target="metadata"/><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9" name="Google Shape;13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6" name="Google Shape;1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1" name="Google Shape;16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8" name="Google Shape;16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5" name="Google Shape;17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 name="Google Shape;1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1" name="Google Shape;2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8" name="Google Shape;21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9" name="Google Shape;22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7" name="Google Shape;237;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Xây dựng ứng dụng MVC</a:t>
            </a:r>
            <a:endParaRPr/>
          </a:p>
          <a:p>
            <a:pPr indent="0" lvl="0" marL="0" rtl="0" algn="l">
              <a:spcBef>
                <a:spcPts val="360"/>
              </a:spcBef>
              <a:spcAft>
                <a:spcPts val="0"/>
              </a:spcAft>
              <a:buNone/>
            </a:pPr>
            <a:r>
              <a:rPr lang="en-US"/>
              <a:t>Ingredient: Model</a:t>
            </a:r>
            <a:endParaRPr/>
          </a:p>
          <a:p>
            <a:pPr indent="0" lvl="0" marL="0" rtl="0" algn="l">
              <a:spcBef>
                <a:spcPts val="360"/>
              </a:spcBef>
              <a:spcAft>
                <a:spcPts val="0"/>
              </a:spcAft>
              <a:buNone/>
            </a:pPr>
            <a:r>
              <a:rPr lang="en-US"/>
              <a:t>Controller</a:t>
            </a:r>
            <a:endParaRPr/>
          </a:p>
          <a:p>
            <a:pPr indent="0" lvl="0" marL="0" rtl="0" algn="l">
              <a:spcBef>
                <a:spcPts val="360"/>
              </a:spcBef>
              <a:spcAft>
                <a:spcPts val="0"/>
              </a:spcAft>
              <a:buNone/>
            </a:pPr>
            <a:r>
              <a:rPr lang="en-US"/>
              <a:t>View design/html</a:t>
            </a:r>
            <a:endParaRPr/>
          </a:p>
        </p:txBody>
      </p:sp>
      <p:sp>
        <p:nvSpPr>
          <p:cNvPr id="238" name="Google Shape;238;p2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5" name="Google Shape;24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2" name="Google Shape;252;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Thực thế tương đương java bean nhg ko có hàm get set, ko có constructor</a:t>
            </a:r>
            <a:endParaRPr/>
          </a:p>
          <a:p>
            <a:pPr indent="0" lvl="0" marL="0" rtl="0" algn="l">
              <a:spcBef>
                <a:spcPts val="360"/>
              </a:spcBef>
              <a:spcAft>
                <a:spcPts val="0"/>
              </a:spcAft>
              <a:buNone/>
            </a:pPr>
            <a:r>
              <a:rPr lang="en-US"/>
              <a:t>Get set có quy tắc, đơn giản nhg lặp đi lặp lại</a:t>
            </a:r>
            <a:endParaRPr/>
          </a:p>
          <a:p>
            <a:pPr indent="0" lvl="0" marL="0" marR="0" rtl="0" algn="l">
              <a:lnSpc>
                <a:spcPct val="100000"/>
              </a:lnSpc>
              <a:spcBef>
                <a:spcPts val="360"/>
              </a:spcBef>
              <a:spcAft>
                <a:spcPts val="0"/>
              </a:spcAft>
              <a:buClr>
                <a:schemeClr val="dk1"/>
              </a:buClr>
              <a:buSzPts val="1200"/>
              <a:buFont typeface="Courier New"/>
              <a:buNone/>
            </a:pPr>
            <a:r>
              <a:rPr lang="en-US" sz="1200">
                <a:latin typeface="Courier New"/>
                <a:ea typeface="Courier New"/>
                <a:cs typeface="Courier New"/>
                <a:sym typeface="Courier New"/>
              </a:rPr>
              <a:t>@Data thêm get set</a:t>
            </a:r>
            <a:endParaRPr/>
          </a:p>
          <a:p>
            <a:pPr indent="0" lvl="0" marL="0" marR="0" rtl="0" algn="l">
              <a:lnSpc>
                <a:spcPct val="100000"/>
              </a:lnSpc>
              <a:spcBef>
                <a:spcPts val="360"/>
              </a:spcBef>
              <a:spcAft>
                <a:spcPts val="0"/>
              </a:spcAft>
              <a:buClr>
                <a:schemeClr val="dk1"/>
              </a:buClr>
              <a:buSzPts val="1200"/>
              <a:buFont typeface="Courier New"/>
              <a:buNone/>
            </a:pPr>
            <a:r>
              <a:rPr lang="en-US" sz="1200">
                <a:latin typeface="Courier New"/>
                <a:ea typeface="Courier New"/>
                <a:cs typeface="Courier New"/>
                <a:sym typeface="Courier New"/>
              </a:rPr>
              <a:t>@RequiredArgsConstructor thêm constructor</a:t>
            </a:r>
            <a:endParaRPr/>
          </a:p>
          <a:p>
            <a:pPr indent="0" lvl="0" marL="0" rtl="0" algn="l">
              <a:spcBef>
                <a:spcPts val="360"/>
              </a:spcBef>
              <a:spcAft>
                <a:spcPts val="0"/>
              </a:spcAft>
              <a:buNone/>
            </a:pPr>
            <a:r>
              <a:t/>
            </a:r>
            <a:endParaRPr/>
          </a:p>
        </p:txBody>
      </p:sp>
      <p:sp>
        <p:nvSpPr>
          <p:cNvPr id="253" name="Google Shape;253;p2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Thư viện tự sinh, thêm vào file pom file quản lý</a:t>
            </a:r>
            <a:endParaRPr/>
          </a:p>
          <a:p>
            <a:pPr indent="0" lvl="0" marL="0" rtl="0" algn="l">
              <a:spcBef>
                <a:spcPts val="360"/>
              </a:spcBef>
              <a:spcAft>
                <a:spcPts val="0"/>
              </a:spcAft>
              <a:buNone/>
            </a:pPr>
            <a:r>
              <a:rPr lang="en-US"/>
              <a:t>Search lombok trên maven</a:t>
            </a:r>
            <a:endParaRPr/>
          </a:p>
        </p:txBody>
      </p:sp>
      <p:sp>
        <p:nvSpPr>
          <p:cNvPr id="261" name="Google Shape;261;p2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8" name="Google Shape;268;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Nếu IDE chưa nhận =&gt; báo đỏ lỗi</a:t>
            </a:r>
            <a:endParaRPr/>
          </a:p>
        </p:txBody>
      </p:sp>
      <p:sp>
        <p:nvSpPr>
          <p:cNvPr id="269" name="Google Shape;269;p2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 name="Google Shape;27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 name="Google Shape;2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Code controller trong tacos.web </a:t>
            </a:r>
            <a:endParaRPr/>
          </a:p>
        </p:txBody>
      </p:sp>
      <p:sp>
        <p:nvSpPr>
          <p:cNvPr id="294" name="Google Shape;294;p2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1" name="Google Shape;301;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Chú ý Spring có rất nhiều chú giải</a:t>
            </a:r>
            <a:endParaRPr/>
          </a:p>
          <a:p>
            <a:pPr indent="0" lvl="0" marL="0" rtl="0" algn="l">
              <a:spcBef>
                <a:spcPts val="360"/>
              </a:spcBef>
              <a:spcAft>
                <a:spcPts val="0"/>
              </a:spcAft>
              <a:buNone/>
            </a:pPr>
            <a:r>
              <a:rPr lang="en-US"/>
              <a:t>chú giải @ModelAttribute đánh dấu phương phức là gì trước khi xử lý request, load danh sách thành phần và gắn vào model</a:t>
            </a:r>
            <a:endParaRPr/>
          </a:p>
          <a:p>
            <a:pPr indent="0" lvl="0" marL="0" rtl="0" algn="l">
              <a:spcBef>
                <a:spcPts val="360"/>
              </a:spcBef>
              <a:spcAft>
                <a:spcPts val="0"/>
              </a:spcAft>
              <a:buNone/>
            </a:pPr>
            <a:r>
              <a:t/>
            </a:r>
            <a:endParaRPr/>
          </a:p>
        </p:txBody>
      </p:sp>
      <p:sp>
        <p:nvSpPr>
          <p:cNvPr id="302" name="Google Shape;302;p2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9" name="Google Shape;30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6" name="Google Shape;31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3" name="Google Shape;32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0" name="Google Shape;33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37" name="Google Shape;33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 name="Google Shape;3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8" name="Google Shape;358;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65" name="Google Shape;36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2" name="Google Shape;37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9" name="Google Shape;37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6" name="Google Shape;38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3" name="Google Shape;39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 name="Google Shape;40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7" name="Google Shape;40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4" name="Google Shape;41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1" name="Google Shape;42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8" name="Google Shape;42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5" name="Google Shape;43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2" name="Google Shape;44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9" name="Google Shape;44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6" name="Google Shape;456;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3" name="Google Shape;46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0" name="Google Shape;47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7" name="Google Shape;47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4" name="Google Shape;48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1" name="Google Shape;49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8" name="Google Shape;498;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5" name="Google Shape;50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0"/>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0"/>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6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Times New Roman"/>
              <a:buNone/>
              <a:defRPr sz="2400"/>
            </a:lvl1pPr>
            <a:lvl2pPr lvl="1" algn="ctr">
              <a:spcBef>
                <a:spcPts val="400"/>
              </a:spcBef>
              <a:spcAft>
                <a:spcPts val="0"/>
              </a:spcAft>
              <a:buClr>
                <a:schemeClr val="dk1"/>
              </a:buClr>
              <a:buSzPts val="2000"/>
              <a:buFont typeface="Times New Roman"/>
              <a:buNone/>
              <a:defRPr sz="2000"/>
            </a:lvl2pPr>
            <a:lvl3pPr lvl="2" algn="ctr">
              <a:spcBef>
                <a:spcPts val="360"/>
              </a:spcBef>
              <a:spcAft>
                <a:spcPts val="0"/>
              </a:spcAft>
              <a:buClr>
                <a:schemeClr val="dk1"/>
              </a:buClr>
              <a:buSzPts val="1800"/>
              <a:buFont typeface="Times New Roman"/>
              <a:buNone/>
              <a:defRPr sz="1800"/>
            </a:lvl3pPr>
            <a:lvl4pPr lvl="3" algn="ctr">
              <a:spcBef>
                <a:spcPts val="320"/>
              </a:spcBef>
              <a:spcAft>
                <a:spcPts val="0"/>
              </a:spcAft>
              <a:buClr>
                <a:schemeClr val="dk1"/>
              </a:buClr>
              <a:buSzPts val="1600"/>
              <a:buFont typeface="Times New Roman"/>
              <a:buNone/>
              <a:defRPr sz="1600"/>
            </a:lvl4pPr>
            <a:lvl5pPr lvl="4" algn="ctr">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61"/>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1"/>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6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62"/>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2"/>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3"/>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3"/>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sz="2400"/>
            </a:lvl1pPr>
            <a:lvl2pPr indent="-228600" lvl="1" marL="914400" algn="l">
              <a:spcBef>
                <a:spcPts val="400"/>
              </a:spcBef>
              <a:spcAft>
                <a:spcPts val="0"/>
              </a:spcAft>
              <a:buClr>
                <a:schemeClr val="dk1"/>
              </a:buClr>
              <a:buSzPts val="2000"/>
              <a:buFont typeface="Times New Roman"/>
              <a:buNone/>
              <a:defRPr sz="2000"/>
            </a:lvl2pPr>
            <a:lvl3pPr indent="-228600" lvl="2" marL="1371600" algn="l">
              <a:spcBef>
                <a:spcPts val="360"/>
              </a:spcBef>
              <a:spcAft>
                <a:spcPts val="0"/>
              </a:spcAft>
              <a:buClr>
                <a:schemeClr val="dk1"/>
              </a:buClr>
              <a:buSzPts val="1800"/>
              <a:buFont typeface="Times New Roman"/>
              <a:buNone/>
              <a:defRPr sz="1800"/>
            </a:lvl3pPr>
            <a:lvl4pPr indent="-228600" lvl="3" marL="1828800" algn="l">
              <a:spcBef>
                <a:spcPts val="320"/>
              </a:spcBef>
              <a:spcAft>
                <a:spcPts val="0"/>
              </a:spcAft>
              <a:buClr>
                <a:schemeClr val="dk1"/>
              </a:buClr>
              <a:buSzPts val="1600"/>
              <a:buFont typeface="Times New Roman"/>
              <a:buNone/>
              <a:defRPr sz="1600"/>
            </a:lvl4pPr>
            <a:lvl5pPr indent="-228600" lvl="4" marL="2286000" algn="l">
              <a:spcBef>
                <a:spcPts val="320"/>
              </a:spcBef>
              <a:spcAft>
                <a:spcPts val="0"/>
              </a:spcAft>
              <a:buClr>
                <a:schemeClr val="dk1"/>
              </a:buClr>
              <a:buSzPts val="1600"/>
              <a:buFont typeface="Times New Roman"/>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34" name="Google Shape;34;p63"/>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3"/>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64"/>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4"/>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4"/>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4"/>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5"/>
          <p:cNvSpPr txBox="1"/>
          <p:nvPr>
            <p:ph type="title"/>
          </p:nvPr>
        </p:nvSpPr>
        <p:spPr>
          <a:xfrm>
            <a:off x="630238" y="365125"/>
            <a:ext cx="78867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65"/>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5"/>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5"/>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65"/>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5"/>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5"/>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66"/>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6"/>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67"/>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7"/>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7"/>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7"/>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8"/>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68"/>
          <p:cNvSpPr/>
          <p:nvPr>
            <p:ph idx="2" type="pic"/>
          </p:nvPr>
        </p:nvSpPr>
        <p:spPr>
          <a:xfrm>
            <a:off x="3887788" y="987425"/>
            <a:ext cx="4629150" cy="4873625"/>
          </a:xfrm>
          <a:prstGeom prst="rect">
            <a:avLst/>
          </a:prstGeom>
          <a:noFill/>
          <a:ln>
            <a:noFill/>
          </a:ln>
        </p:spPr>
      </p:sp>
      <p:sp>
        <p:nvSpPr>
          <p:cNvPr id="68" name="Google Shape;68;p68"/>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8"/>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8"/>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69"/>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9"/>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0"/>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70"/>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0"/>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0"/>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None/>
              <a:defRPr sz="1400">
                <a:solidFill>
                  <a:schemeClr val="dk1"/>
                </a:solidFill>
                <a:latin typeface="Times New Roman"/>
                <a:ea typeface="Times New Roman"/>
                <a:cs typeface="Times New Roman"/>
                <a:sym typeface="Times New Roman"/>
              </a:defRPr>
            </a:lvl1pPr>
            <a:lvl2pPr indent="0" lvl="1" marL="0" algn="l">
              <a:spcBef>
                <a:spcPts val="0"/>
              </a:spcBef>
              <a:spcAft>
                <a:spcPts val="0"/>
              </a:spcAft>
              <a:buNone/>
              <a:defRPr sz="1400">
                <a:solidFill>
                  <a:schemeClr val="dk1"/>
                </a:solidFill>
                <a:latin typeface="Times New Roman"/>
                <a:ea typeface="Times New Roman"/>
                <a:cs typeface="Times New Roman"/>
                <a:sym typeface="Times New Roman"/>
              </a:defRPr>
            </a:lvl2pPr>
            <a:lvl3pPr indent="0" lvl="2" marL="0" algn="l">
              <a:spcBef>
                <a:spcPts val="0"/>
              </a:spcBef>
              <a:spcAft>
                <a:spcPts val="0"/>
              </a:spcAft>
              <a:buNone/>
              <a:defRPr sz="1400">
                <a:solidFill>
                  <a:schemeClr val="dk1"/>
                </a:solidFill>
                <a:latin typeface="Times New Roman"/>
                <a:ea typeface="Times New Roman"/>
                <a:cs typeface="Times New Roman"/>
                <a:sym typeface="Times New Roman"/>
              </a:defRPr>
            </a:lvl3pPr>
            <a:lvl4pPr indent="0" lvl="3" marL="0" algn="l">
              <a:spcBef>
                <a:spcPts val="0"/>
              </a:spcBef>
              <a:spcAft>
                <a:spcPts val="0"/>
              </a:spcAft>
              <a:buNone/>
              <a:defRPr sz="1400">
                <a:solidFill>
                  <a:schemeClr val="dk1"/>
                </a:solidFill>
                <a:latin typeface="Times New Roman"/>
                <a:ea typeface="Times New Roman"/>
                <a:cs typeface="Times New Roman"/>
                <a:sym typeface="Times New Roman"/>
              </a:defRPr>
            </a:lvl4pPr>
            <a:lvl5pPr indent="0" lvl="4" marL="0" algn="l">
              <a:spcBef>
                <a:spcPts val="0"/>
              </a:spcBef>
              <a:spcAft>
                <a:spcPts val="0"/>
              </a:spcAft>
              <a:buNone/>
              <a:defRPr sz="1400">
                <a:solidFill>
                  <a:schemeClr val="dk1"/>
                </a:solidFill>
                <a:latin typeface="Times New Roman"/>
                <a:ea typeface="Times New Roman"/>
                <a:cs typeface="Times New Roman"/>
                <a:sym typeface="Times New Roman"/>
              </a:defRPr>
            </a:lvl5pPr>
            <a:lvl6pPr indent="0" lvl="5" marL="0" algn="l">
              <a:spcBef>
                <a:spcPts val="0"/>
              </a:spcBef>
              <a:spcAft>
                <a:spcPts val="0"/>
              </a:spcAft>
              <a:buNone/>
              <a:defRPr sz="1400">
                <a:solidFill>
                  <a:schemeClr val="dk1"/>
                </a:solidFill>
                <a:latin typeface="Times New Roman"/>
                <a:ea typeface="Times New Roman"/>
                <a:cs typeface="Times New Roman"/>
                <a:sym typeface="Times New Roman"/>
              </a:defRPr>
            </a:lvl6pPr>
            <a:lvl7pPr indent="0" lvl="6" marL="0" algn="l">
              <a:spcBef>
                <a:spcPts val="0"/>
              </a:spcBef>
              <a:spcAft>
                <a:spcPts val="0"/>
              </a:spcAft>
              <a:buNone/>
              <a:defRPr sz="1400">
                <a:solidFill>
                  <a:schemeClr val="dk1"/>
                </a:solidFill>
                <a:latin typeface="Times New Roman"/>
                <a:ea typeface="Times New Roman"/>
                <a:cs typeface="Times New Roman"/>
                <a:sym typeface="Times New Roman"/>
              </a:defRPr>
            </a:lvl7pPr>
            <a:lvl8pPr indent="0" lvl="7" marL="0" algn="l">
              <a:spcBef>
                <a:spcPts val="0"/>
              </a:spcBef>
              <a:spcAft>
                <a:spcPts val="0"/>
              </a:spcAft>
              <a:buNone/>
              <a:defRPr sz="1400">
                <a:solidFill>
                  <a:schemeClr val="dk1"/>
                </a:solidFill>
                <a:latin typeface="Times New Roman"/>
                <a:ea typeface="Times New Roman"/>
                <a:cs typeface="Times New Roman"/>
                <a:sym typeface="Times New Roman"/>
              </a:defRPr>
            </a:lvl8pPr>
            <a:lvl9pPr indent="0" lvl="8" marL="0" algn="l">
              <a:spcBef>
                <a:spcPts val="0"/>
              </a:spcBef>
              <a:spcAft>
                <a:spcPts val="0"/>
              </a:spcAft>
              <a:buNone/>
              <a:defRPr sz="1400">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marR="0" rtl="0" algn="r">
              <a:spcBef>
                <a:spcPts val="0"/>
              </a:spcBef>
              <a:spcAft>
                <a:spcPts val="0"/>
              </a:spcAft>
              <a:buNone/>
            </a:pPr>
            <a:r>
              <a:rPr lang="en-US" sz="1000"/>
              <a:t>Slide </a:t>
            </a:r>
            <a:fld id="{00000000-1234-1234-1234-123412341234}" type="slidenum">
              <a:rPr lang="en-US" sz="1000"/>
              <a:t>‹#›</a:t>
            </a:fld>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5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 name="Google Shape;12;p59"/>
          <p:cNvSpPr txBox="1"/>
          <p:nvPr>
            <p:ph idx="10" type="dt"/>
          </p:nvPr>
        </p:nvSpPr>
        <p:spPr>
          <a:xfrm>
            <a:off x="762000" y="6276975"/>
            <a:ext cx="27432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59"/>
          <p:cNvSpPr txBox="1"/>
          <p:nvPr>
            <p:ph idx="11" type="ftr"/>
          </p:nvPr>
        </p:nvSpPr>
        <p:spPr>
          <a:xfrm>
            <a:off x="3581400" y="6248400"/>
            <a:ext cx="2852738" cy="457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0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5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1pPr>
            <a:lvl2pPr indent="0" lvl="1"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2pPr>
            <a:lvl3pPr indent="0" lvl="2"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3pPr>
            <a:lvl4pPr indent="0" lvl="3"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4pPr>
            <a:lvl5pPr indent="0" lvl="4"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5pPr>
            <a:lvl6pPr indent="0" lvl="5"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6pPr>
            <a:lvl7pPr indent="0" lvl="6"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7pPr>
            <a:lvl8pPr indent="0" lvl="7"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8pPr>
            <a:lvl9pPr indent="0" lvl="8" marL="0" marR="0" rtl="0" algn="l">
              <a:spcBef>
                <a:spcPts val="0"/>
              </a:spcBef>
              <a:spcAft>
                <a:spcPts val="0"/>
              </a:spcAft>
              <a:buNone/>
              <a:defRPr b="0" i="0" sz="1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r>
              <a:t/>
            </a:r>
            <a:endParaRPr/>
          </a:p>
          <a:p>
            <a:pPr indent="0" lvl="0" marL="0" rtl="0" algn="r">
              <a:spcBef>
                <a:spcPts val="0"/>
              </a:spcBef>
              <a:spcAft>
                <a:spcPts val="0"/>
              </a:spcAft>
              <a:buNone/>
            </a:pPr>
            <a:r>
              <a:rPr lang="en-US" sz="1000"/>
              <a:t>Slide </a:t>
            </a:r>
            <a:fld id="{00000000-1234-1234-1234-123412341234}" type="slidenum">
              <a:rPr lang="en-US" sz="1000"/>
              <a:t>‹#›</a:t>
            </a:fld>
            <a:endParaRPr sz="1000"/>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www.w3.org/1999/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graphicFrame>
        <p:nvGraphicFramePr>
          <p:cNvPr id="90" name="Google Shape;90;p1"/>
          <p:cNvGraphicFramePr/>
          <p:nvPr/>
        </p:nvGraphicFramePr>
        <p:xfrm>
          <a:off x="841375" y="1663700"/>
          <a:ext cx="7459663" cy="1771650"/>
        </p:xfrm>
        <a:graphic>
          <a:graphicData uri="http://schemas.openxmlformats.org/presentationml/2006/ole">
            <mc:AlternateContent>
              <mc:Choice Requires="v">
                <p:oleObj r:id="rId4" imgH="1771650" imgW="7459663" progId="Word.Document.8" spid="_x0000_s1">
                  <p:embed/>
                </p:oleObj>
              </mc:Choice>
              <mc:Fallback>
                <p:oleObj r:id="rId5" imgH="1771650" imgW="7459663" progId="Word.Document.8">
                  <p:embed/>
                  <p:pic>
                    <p:nvPicPr>
                      <p:cNvPr id="90" name="Google Shape;90;p1"/>
                      <p:cNvPicPr preferRelativeResize="0"/>
                      <p:nvPr/>
                    </p:nvPicPr>
                    <p:blipFill rotWithShape="1">
                      <a:blip r:embed="rId6">
                        <a:alphaModFix/>
                      </a:blip>
                      <a:srcRect b="0" l="0" r="0" t="0"/>
                      <a:stretch/>
                    </p:blipFill>
                    <p:spPr>
                      <a:xfrm>
                        <a:off x="841375" y="1663700"/>
                        <a:ext cx="7459663" cy="1771650"/>
                      </a:xfrm>
                      <a:prstGeom prst="rect">
                        <a:avLst/>
                      </a:prstGeom>
                      <a:noFill/>
                      <a:ln>
                        <a:noFill/>
                      </a:ln>
                    </p:spPr>
                  </p:pic>
                </p:oleObj>
              </mc:Fallback>
            </mc:AlternateContent>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96" name="Google Shape;96;p2"/>
          <p:cNvSpPr txBox="1"/>
          <p:nvPr/>
        </p:nvSpPr>
        <p:spPr>
          <a:xfrm>
            <a:off x="685800" y="304800"/>
            <a:ext cx="204470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Spring là gì?</a:t>
            </a:r>
            <a:endParaRPr b="1" i="0" sz="2400" u="none" cap="none" strike="noStrike">
              <a:solidFill>
                <a:schemeClr val="accent2"/>
              </a:solidFill>
              <a:latin typeface="Arial"/>
              <a:ea typeface="Arial"/>
              <a:cs typeface="Arial"/>
              <a:sym typeface="Arial"/>
            </a:endParaRPr>
          </a:p>
        </p:txBody>
      </p:sp>
      <p:sp>
        <p:nvSpPr>
          <p:cNvPr id="97" name="Google Shape;97;p2"/>
          <p:cNvSpPr txBox="1"/>
          <p:nvPr/>
        </p:nvSpPr>
        <p:spPr>
          <a:xfrm>
            <a:off x="657225" y="1066800"/>
            <a:ext cx="7924800" cy="541686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Các ứng dụng phức tạp thường có nhiều thành phần. Mỗi thành phần có 1 chức năng, kết hợp với nhau để thực hiện nhiệm vụ chung.</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Spring là một Java framework với nền tảng là Spring container (Spring application context), dùng để tạo vào quản lý các thành phần của ứng dụng.</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Các thành phần ứng dụng (beans) được kết nối với nhau trong lõi của Spring để hình thành ứng dụng hoàn chỉnh.</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Hành động kết nối các thành phần với nhau dựa trên một kỹ thuật là Dependency Injection (DI).</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03" name="Google Shape;103;p3"/>
          <p:cNvSpPr txBox="1"/>
          <p:nvPr/>
        </p:nvSpPr>
        <p:spPr>
          <a:xfrm>
            <a:off x="685800" y="304800"/>
            <a:ext cx="39433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Dependency Injection - DI</a:t>
            </a:r>
            <a:endParaRPr b="1" i="0" sz="2400" u="none" cap="none" strike="noStrike">
              <a:solidFill>
                <a:schemeClr val="accent2"/>
              </a:solidFill>
              <a:latin typeface="Arial"/>
              <a:ea typeface="Arial"/>
              <a:cs typeface="Arial"/>
              <a:sym typeface="Arial"/>
            </a:endParaRPr>
          </a:p>
        </p:txBody>
      </p:sp>
      <p:sp>
        <p:nvSpPr>
          <p:cNvPr id="104" name="Google Shape;104;p3"/>
          <p:cNvSpPr txBox="1"/>
          <p:nvPr/>
        </p:nvSpPr>
        <p:spPr>
          <a:xfrm>
            <a:off x="657225" y="800100"/>
            <a:ext cx="7924800" cy="28931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Thông thường: Các thành phần tạo và duy trì vòng đời các bean mà nó phụ thuộc.</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 Ứng dụng DI dựa trên 1 thực thể độc lập (container) để tạo và duy trì tất cả các thành phần, và “tiêm” chúng vào các thành phần khác cần nó (thông qua hàm dựng hoặc hàm set).</a:t>
            </a:r>
            <a:endParaRPr/>
          </a:p>
        </p:txBody>
      </p:sp>
      <p:pic>
        <p:nvPicPr>
          <p:cNvPr id="105" name="Google Shape;105;p3"/>
          <p:cNvPicPr preferRelativeResize="0"/>
          <p:nvPr/>
        </p:nvPicPr>
        <p:blipFill rotWithShape="1">
          <a:blip r:embed="rId3">
            <a:alphaModFix/>
          </a:blip>
          <a:srcRect b="0" l="0" r="0" t="0"/>
          <a:stretch/>
        </p:blipFill>
        <p:spPr>
          <a:xfrm>
            <a:off x="2070100" y="3784600"/>
            <a:ext cx="4779963" cy="28749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11" name="Google Shape;111;p4"/>
          <p:cNvSpPr txBox="1"/>
          <p:nvPr/>
        </p:nvSpPr>
        <p:spPr>
          <a:xfrm>
            <a:off x="685800" y="304800"/>
            <a:ext cx="39433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Dependency Injection - DI</a:t>
            </a:r>
            <a:endParaRPr b="1" i="0" sz="2400" u="none" cap="none" strike="noStrike">
              <a:solidFill>
                <a:schemeClr val="accent2"/>
              </a:solidFill>
              <a:latin typeface="Arial"/>
              <a:ea typeface="Arial"/>
              <a:cs typeface="Arial"/>
              <a:sym typeface="Arial"/>
            </a:endParaRPr>
          </a:p>
        </p:txBody>
      </p:sp>
      <p:sp>
        <p:nvSpPr>
          <p:cNvPr id="112" name="Google Shape;112;p4"/>
          <p:cNvSpPr txBox="1"/>
          <p:nvPr/>
        </p:nvSpPr>
        <p:spPr>
          <a:xfrm>
            <a:off x="685800" y="990600"/>
            <a:ext cx="8382000" cy="532453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Thông thường</a:t>
            </a:r>
            <a:endParaRPr/>
          </a:p>
          <a:p>
            <a:pPr indent="-190500" lvl="0" marL="342900" marR="0" rtl="0" algn="l">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public class ProductService {</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private InventoryService inventoryService;</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public ProductService() {</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inventoryService = new InventoryService();</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127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a:t>
            </a:r>
            <a:endParaRPr/>
          </a:p>
          <a:p>
            <a:pPr indent="0" lvl="1" marL="457200" marR="0" rtl="0" algn="l">
              <a:spcBef>
                <a:spcPts val="0"/>
              </a:spcBef>
              <a:spcAft>
                <a:spcPts val="0"/>
              </a:spcAft>
              <a:buNone/>
            </a:pPr>
            <a:r>
              <a:t/>
            </a:r>
            <a:endParaRPr b="0" i="0" sz="2000" u="none" cap="none" strike="noStrike">
              <a:solidFill>
                <a:schemeClr val="dk1"/>
              </a:solidFill>
              <a:latin typeface="Courier"/>
              <a:ea typeface="Courier"/>
              <a:cs typeface="Courier"/>
              <a:sym typeface="Courier"/>
            </a:endParaRPr>
          </a:p>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Inversion of Control</a:t>
            </a:r>
            <a:endParaRPr/>
          </a:p>
          <a:p>
            <a:pPr indent="-190500" lvl="0" marL="342900" marR="0" rtl="0" algn="l">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public class ProductService {</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private InventoryService inventoryService;</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public ProductService(inventoryService InventoryService) {</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this.inventoryService = inventoryService;</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10160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18" name="Google Shape;118;p5"/>
          <p:cNvSpPr txBox="1"/>
          <p:nvPr/>
        </p:nvSpPr>
        <p:spPr>
          <a:xfrm>
            <a:off x="685800" y="304800"/>
            <a:ext cx="22163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Lợi ích của DI</a:t>
            </a:r>
            <a:endParaRPr b="1" i="0" sz="2400" u="none" cap="none" strike="noStrike">
              <a:solidFill>
                <a:schemeClr val="accent2"/>
              </a:solidFill>
              <a:latin typeface="Arial"/>
              <a:ea typeface="Arial"/>
              <a:cs typeface="Arial"/>
              <a:sym typeface="Arial"/>
            </a:endParaRPr>
          </a:p>
        </p:txBody>
      </p:sp>
      <p:sp>
        <p:nvSpPr>
          <p:cNvPr id="119" name="Google Shape;119;p5"/>
          <p:cNvSpPr txBox="1"/>
          <p:nvPr/>
        </p:nvSpPr>
        <p:spPr>
          <a:xfrm>
            <a:off x="762000" y="1143000"/>
            <a:ext cx="8382000" cy="497366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Khi viết các ứng dụng Java phức tạp, các thành phần càng độc lập càng tốt, nhằm làm tăng khả năng tái sử dụng và bảo trì, cũng như khả năng kiểm thử độc lập.</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 nhằm giúp kết nối các thành phần ứng dụng Java nhưng giữ cho chúng độc lập với nhau.</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Trong ví dụ trên, lớp InventoryService được thực thi độc lập và cung cấp cho lớp ProductService khi lớp này khởi tạo. Quá trình này được điều khiển bởi Spring.</a:t>
            </a:r>
            <a:endParaRPr/>
          </a:p>
          <a:p>
            <a:pPr indent="-342900" lvl="0" marL="342900" marR="0" rtl="0" algn="l">
              <a:lnSpc>
                <a:spcPct val="12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Các đối tượng sẽ được gắn vào nhau thông qua hàm Constructor hoặc hàm Set.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25" name="Google Shape;125;p6"/>
          <p:cNvSpPr txBox="1"/>
          <p:nvPr/>
        </p:nvSpPr>
        <p:spPr>
          <a:xfrm>
            <a:off x="685800" y="304800"/>
            <a:ext cx="25066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Spring modules</a:t>
            </a:r>
            <a:endParaRPr b="1" i="0" sz="2400" u="none" cap="none" strike="noStrike">
              <a:solidFill>
                <a:schemeClr val="accent2"/>
              </a:solidFill>
              <a:latin typeface="Arial"/>
              <a:ea typeface="Arial"/>
              <a:cs typeface="Arial"/>
              <a:sym typeface="Arial"/>
            </a:endParaRPr>
          </a:p>
        </p:txBody>
      </p:sp>
      <p:pic>
        <p:nvPicPr>
          <p:cNvPr id="126" name="Google Shape;126;p6"/>
          <p:cNvPicPr preferRelativeResize="0"/>
          <p:nvPr/>
        </p:nvPicPr>
        <p:blipFill rotWithShape="1">
          <a:blip r:embed="rId3">
            <a:alphaModFix/>
          </a:blip>
          <a:srcRect b="0" l="0" r="0" t="0"/>
          <a:stretch/>
        </p:blipFill>
        <p:spPr>
          <a:xfrm>
            <a:off x="1371600" y="1447800"/>
            <a:ext cx="6108700" cy="4216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32" name="Google Shape;132;p7"/>
          <p:cNvSpPr txBox="1"/>
          <p:nvPr/>
        </p:nvSpPr>
        <p:spPr>
          <a:xfrm>
            <a:off x="685800" y="304800"/>
            <a:ext cx="61436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Kết nối các thành phần ứng dụng Spring</a:t>
            </a:r>
            <a:endParaRPr b="1" i="0" sz="2400" u="none" cap="none" strike="noStrike">
              <a:solidFill>
                <a:schemeClr val="accent2"/>
              </a:solidFill>
              <a:latin typeface="Arial"/>
              <a:ea typeface="Arial"/>
              <a:cs typeface="Arial"/>
              <a:sym typeface="Arial"/>
            </a:endParaRPr>
          </a:p>
        </p:txBody>
      </p:sp>
      <p:sp>
        <p:nvSpPr>
          <p:cNvPr id="133" name="Google Shape;133;p7"/>
          <p:cNvSpPr txBox="1"/>
          <p:nvPr/>
        </p:nvSpPr>
        <p:spPr>
          <a:xfrm>
            <a:off x="657225" y="838200"/>
            <a:ext cx="7924800" cy="83026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Trước đây: Sử dụng file XML để mô tả các thành phần và mối quan hệ giữa chúng.</a:t>
            </a:r>
            <a:endParaRPr/>
          </a:p>
        </p:txBody>
      </p:sp>
      <p:pic>
        <p:nvPicPr>
          <p:cNvPr id="134" name="Google Shape;134;p7"/>
          <p:cNvPicPr preferRelativeResize="0"/>
          <p:nvPr/>
        </p:nvPicPr>
        <p:blipFill rotWithShape="1">
          <a:blip r:embed="rId3">
            <a:alphaModFix/>
          </a:blip>
          <a:srcRect b="0" l="0" r="0" t="0"/>
          <a:stretch/>
        </p:blipFill>
        <p:spPr>
          <a:xfrm>
            <a:off x="1981200" y="1676400"/>
            <a:ext cx="5105400" cy="1582738"/>
          </a:xfrm>
          <a:prstGeom prst="rect">
            <a:avLst/>
          </a:prstGeom>
          <a:noFill/>
          <a:ln>
            <a:noFill/>
          </a:ln>
        </p:spPr>
      </p:pic>
      <p:sp>
        <p:nvSpPr>
          <p:cNvPr id="135" name="Google Shape;135;p7"/>
          <p:cNvSpPr txBox="1"/>
          <p:nvPr/>
        </p:nvSpPr>
        <p:spPr>
          <a:xfrm>
            <a:off x="688975" y="3352800"/>
            <a:ext cx="7924800" cy="46196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Gần đây: Sử dụng Java annotation.</a:t>
            </a:r>
            <a:endParaRPr/>
          </a:p>
        </p:txBody>
      </p:sp>
      <p:pic>
        <p:nvPicPr>
          <p:cNvPr id="136" name="Google Shape;136;p7"/>
          <p:cNvPicPr preferRelativeResize="0"/>
          <p:nvPr/>
        </p:nvPicPr>
        <p:blipFill rotWithShape="1">
          <a:blip r:embed="rId4">
            <a:alphaModFix/>
          </a:blip>
          <a:srcRect b="0" l="0" r="0" t="0"/>
          <a:stretch/>
        </p:blipFill>
        <p:spPr>
          <a:xfrm>
            <a:off x="1797050" y="3902075"/>
            <a:ext cx="5289550" cy="2651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42" name="Google Shape;142;p8"/>
          <p:cNvSpPr txBox="1"/>
          <p:nvPr/>
        </p:nvSpPr>
        <p:spPr>
          <a:xfrm>
            <a:off x="685800" y="304800"/>
            <a:ext cx="58356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Cấu hình tự động (Auto Configuration)</a:t>
            </a:r>
            <a:endParaRPr b="1" i="0" sz="2400" u="none" cap="none" strike="noStrike">
              <a:solidFill>
                <a:schemeClr val="accent2"/>
              </a:solidFill>
              <a:latin typeface="Arial"/>
              <a:ea typeface="Arial"/>
              <a:cs typeface="Arial"/>
              <a:sym typeface="Arial"/>
            </a:endParaRPr>
          </a:p>
        </p:txBody>
      </p:sp>
      <p:sp>
        <p:nvSpPr>
          <p:cNvPr id="143" name="Google Shape;143;p8"/>
          <p:cNvSpPr txBox="1"/>
          <p:nvPr/>
        </p:nvSpPr>
        <p:spPr>
          <a:xfrm>
            <a:off x="673100" y="774700"/>
            <a:ext cx="7924800" cy="608371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Dựa trên các kỹ thuật auto wiring và component scanning.</a:t>
            </a:r>
            <a:endParaRPr/>
          </a:p>
          <a:p>
            <a:pPr indent="-342900" lvl="1" marL="800100" marR="0" rtl="0" algn="l">
              <a:lnSpc>
                <a:spcPct val="12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Component scanning: Tự động phát hiện và tạo các beans.</a:t>
            </a:r>
            <a:endParaRPr/>
          </a:p>
          <a:p>
            <a:pPr indent="-342900" lvl="1" marL="800100" marR="0" rtl="0" algn="l">
              <a:lnSpc>
                <a:spcPct val="12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Auto wiring: Tự động gắn (tiêm) các bean vào các bean khác mà nó phụ thuộc.</a:t>
            </a:r>
            <a:endParaRPr/>
          </a:p>
          <a:p>
            <a:pPr indent="-342900" lvl="0" marL="342900" marR="0" rtl="0" algn="l">
              <a:lnSpc>
                <a:spcPct val="120000"/>
              </a:lnSpc>
              <a:spcBef>
                <a:spcPts val="3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Spring Boot: Kỹ thuật mới nhất. Là một phần mở rộng của Spring Framework, với kỹ thuật nổi bật nhất là tự động cấu hình.</a:t>
            </a:r>
            <a:endParaRPr/>
          </a:p>
          <a:p>
            <a:pPr indent="-342900" lvl="1" marL="800100" marR="0" rtl="0" algn="l">
              <a:lnSpc>
                <a:spcPct val="12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Tự động phán đoán các thành phần cần được cấu hình và gắn kết, dựa trên các đối tượng trong classpath, biến môi trường ...</a:t>
            </a:r>
            <a:endParaRPr/>
          </a:p>
          <a:p>
            <a:pPr indent="-342900" lvl="1" marL="800100" marR="0" rtl="0" algn="l">
              <a:lnSpc>
                <a:spcPct val="12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Giúp làm giảm bớt các mã cấu hình (với XML hay Java). </a:t>
            </a:r>
            <a:endParaRPr/>
          </a:p>
          <a:p>
            <a:pPr indent="-342900" lvl="1" marL="800100" marR="0" rtl="0" algn="l">
              <a:lnSpc>
                <a:spcPct val="120000"/>
              </a:lnSpc>
              <a:spcBef>
                <a:spcPts val="3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Hiện nay: Spring và Spring Boot luôn đi kèm với nhau. Thông thường sử dụng Spring Boot kết hợp Java annotation.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49" name="Google Shape;149;p9"/>
          <p:cNvSpPr txBox="1"/>
          <p:nvPr/>
        </p:nvSpPr>
        <p:spPr>
          <a:xfrm>
            <a:off x="685800" y="304800"/>
            <a:ext cx="40227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Khởi tạo ứng dụng Spring</a:t>
            </a:r>
            <a:endParaRPr b="1" i="0" sz="2400" u="none" cap="none" strike="noStrike">
              <a:solidFill>
                <a:schemeClr val="accent2"/>
              </a:solidFill>
              <a:latin typeface="Arial"/>
              <a:ea typeface="Arial"/>
              <a:cs typeface="Arial"/>
              <a:sym typeface="Arial"/>
            </a:endParaRPr>
          </a:p>
        </p:txBody>
      </p:sp>
      <p:sp>
        <p:nvSpPr>
          <p:cNvPr id="150" name="Google Shape;150;p9"/>
          <p:cNvSpPr txBox="1"/>
          <p:nvPr/>
        </p:nvSpPr>
        <p:spPr>
          <a:xfrm>
            <a:off x="679450" y="990600"/>
            <a:ext cx="7924800" cy="312085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Mục tiêu:</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Xây dựng một ứng dụng đơn giản sử dụng Spring/Spring Boot và các thư viện, nền tảng liên quan.</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Sử dụng Spring Initializr để khởi tạo ứng dụng.</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Sử dụng công cụ Spring Tool Suite để quản lý phát triển ứng dụng.</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B1: Tạo project mới</a:t>
            </a:r>
            <a:endParaRPr/>
          </a:p>
        </p:txBody>
      </p:sp>
      <p:pic>
        <p:nvPicPr>
          <p:cNvPr id="151" name="Google Shape;151;p9"/>
          <p:cNvPicPr preferRelativeResize="0"/>
          <p:nvPr/>
        </p:nvPicPr>
        <p:blipFill rotWithShape="1">
          <a:blip r:embed="rId3">
            <a:alphaModFix/>
          </a:blip>
          <a:srcRect b="0" l="0" r="0" t="0"/>
          <a:stretch/>
        </p:blipFill>
        <p:spPr>
          <a:xfrm>
            <a:off x="685800" y="4191000"/>
            <a:ext cx="8002566" cy="1447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57" name="Google Shape;157;p10"/>
          <p:cNvSpPr txBox="1"/>
          <p:nvPr/>
        </p:nvSpPr>
        <p:spPr>
          <a:xfrm>
            <a:off x="685800" y="304800"/>
            <a:ext cx="38703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Nhập thông tin ứng dụng</a:t>
            </a:r>
            <a:endParaRPr b="1" i="0" sz="2400" u="none" cap="none" strike="noStrike">
              <a:solidFill>
                <a:schemeClr val="accent2"/>
              </a:solidFill>
              <a:latin typeface="Arial"/>
              <a:ea typeface="Arial"/>
              <a:cs typeface="Arial"/>
              <a:sym typeface="Arial"/>
            </a:endParaRPr>
          </a:p>
        </p:txBody>
      </p:sp>
      <p:pic>
        <p:nvPicPr>
          <p:cNvPr id="158" name="Google Shape;158;p10"/>
          <p:cNvPicPr preferRelativeResize="0"/>
          <p:nvPr/>
        </p:nvPicPr>
        <p:blipFill rotWithShape="1">
          <a:blip r:embed="rId3">
            <a:alphaModFix/>
          </a:blip>
          <a:srcRect b="0" l="0" r="0" t="0"/>
          <a:stretch/>
        </p:blipFill>
        <p:spPr>
          <a:xfrm>
            <a:off x="1295400" y="914400"/>
            <a:ext cx="6540500" cy="54086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64" name="Google Shape;164;p11"/>
          <p:cNvSpPr txBox="1"/>
          <p:nvPr/>
        </p:nvSpPr>
        <p:spPr>
          <a:xfrm>
            <a:off x="685800" y="304800"/>
            <a:ext cx="29527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Chọn các thư viện</a:t>
            </a:r>
            <a:endParaRPr b="1" i="0" sz="2400" u="none" cap="none" strike="noStrike">
              <a:solidFill>
                <a:schemeClr val="accent2"/>
              </a:solidFill>
              <a:latin typeface="Arial"/>
              <a:ea typeface="Arial"/>
              <a:cs typeface="Arial"/>
              <a:sym typeface="Arial"/>
            </a:endParaRPr>
          </a:p>
        </p:txBody>
      </p:sp>
      <p:pic>
        <p:nvPicPr>
          <p:cNvPr id="165" name="Google Shape;165;p11"/>
          <p:cNvPicPr preferRelativeResize="0"/>
          <p:nvPr/>
        </p:nvPicPr>
        <p:blipFill rotWithShape="1">
          <a:blip r:embed="rId3">
            <a:alphaModFix/>
          </a:blip>
          <a:srcRect b="0" l="0" r="0" t="0"/>
          <a:stretch/>
        </p:blipFill>
        <p:spPr>
          <a:xfrm>
            <a:off x="2286000" y="876300"/>
            <a:ext cx="4457700" cy="5829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71" name="Google Shape;171;p12"/>
          <p:cNvSpPr txBox="1"/>
          <p:nvPr/>
        </p:nvSpPr>
        <p:spPr>
          <a:xfrm>
            <a:off x="685800" y="304800"/>
            <a:ext cx="40100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Cấu trúc ứng dụng Spring</a:t>
            </a:r>
            <a:endParaRPr b="1" i="0" sz="2400" u="none" cap="none" strike="noStrike">
              <a:solidFill>
                <a:schemeClr val="accent2"/>
              </a:solidFill>
              <a:latin typeface="Arial"/>
              <a:ea typeface="Arial"/>
              <a:cs typeface="Arial"/>
              <a:sym typeface="Arial"/>
            </a:endParaRPr>
          </a:p>
        </p:txBody>
      </p:sp>
      <p:pic>
        <p:nvPicPr>
          <p:cNvPr id="172" name="Google Shape;172;p12"/>
          <p:cNvPicPr preferRelativeResize="0"/>
          <p:nvPr/>
        </p:nvPicPr>
        <p:blipFill rotWithShape="1">
          <a:blip r:embed="rId3">
            <a:alphaModFix/>
          </a:blip>
          <a:srcRect b="0" l="0" r="0" t="0"/>
          <a:stretch/>
        </p:blipFill>
        <p:spPr>
          <a:xfrm>
            <a:off x="1473200" y="990600"/>
            <a:ext cx="6032500" cy="491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78" name="Google Shape;178;p13"/>
          <p:cNvSpPr txBox="1"/>
          <p:nvPr/>
        </p:nvSpPr>
        <p:spPr>
          <a:xfrm>
            <a:off x="685800" y="304800"/>
            <a:ext cx="29511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Cấu trúc ứng dụng</a:t>
            </a:r>
            <a:endParaRPr b="1" i="0" sz="2400" u="none" cap="none" strike="noStrike">
              <a:solidFill>
                <a:schemeClr val="accent2"/>
              </a:solidFill>
              <a:latin typeface="Arial"/>
              <a:ea typeface="Arial"/>
              <a:cs typeface="Arial"/>
              <a:sym typeface="Arial"/>
            </a:endParaRPr>
          </a:p>
        </p:txBody>
      </p:sp>
      <p:sp>
        <p:nvSpPr>
          <p:cNvPr id="179" name="Google Shape;179;p13"/>
          <p:cNvSpPr txBox="1"/>
          <p:nvPr/>
        </p:nvSpPr>
        <p:spPr>
          <a:xfrm>
            <a:off x="657225" y="1143000"/>
            <a:ext cx="7924800" cy="586006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src/main/java: Chứa các file mã nguồn Java chính của ứng dụng.</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TacoCloudApplication: SpringBoot main class dùng để khởi tạo ứng dụng.</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src/main/java: Chứa các file tài nguyên của ứng dụng.</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static: Chứa các nội dung tĩnh (hình ảnh, file code Js, ...)</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templates: Chứa các file giao diện dùng để tạo view cho trình duyệt.</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pom.xml: Đặc tả biên dịch của Maven (đọc thêm về Maven).</a:t>
            </a:r>
            <a:endParaRPr b="0" i="0" sz="2000" u="none" cap="none" strike="noStrike">
              <a:solidFill>
                <a:schemeClr val="dk1"/>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85" name="Google Shape;185;p14"/>
          <p:cNvSpPr txBox="1"/>
          <p:nvPr/>
        </p:nvSpPr>
        <p:spPr>
          <a:xfrm>
            <a:off x="685800" y="304800"/>
            <a:ext cx="35925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Lớp khởi tạo ứng dụng</a:t>
            </a:r>
            <a:endParaRPr b="1" i="0" sz="2400" u="none" cap="none" strike="noStrike">
              <a:solidFill>
                <a:schemeClr val="accent2"/>
              </a:solidFill>
              <a:latin typeface="Arial"/>
              <a:ea typeface="Arial"/>
              <a:cs typeface="Arial"/>
              <a:sym typeface="Arial"/>
            </a:endParaRPr>
          </a:p>
        </p:txBody>
      </p:sp>
      <p:pic>
        <p:nvPicPr>
          <p:cNvPr id="186" name="Google Shape;186;p14"/>
          <p:cNvPicPr preferRelativeResize="0"/>
          <p:nvPr/>
        </p:nvPicPr>
        <p:blipFill rotWithShape="1">
          <a:blip r:embed="rId3">
            <a:alphaModFix/>
          </a:blip>
          <a:srcRect b="0" l="0" r="0" t="0"/>
          <a:stretch/>
        </p:blipFill>
        <p:spPr>
          <a:xfrm>
            <a:off x="596900" y="1219200"/>
            <a:ext cx="7823200" cy="28273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92" name="Google Shape;192;p15"/>
          <p:cNvSpPr txBox="1"/>
          <p:nvPr/>
        </p:nvSpPr>
        <p:spPr>
          <a:xfrm>
            <a:off x="685800" y="304800"/>
            <a:ext cx="35321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SpringBootApplication</a:t>
            </a:r>
            <a:endParaRPr b="1" i="0" sz="2400" u="none" cap="none" strike="noStrike">
              <a:solidFill>
                <a:schemeClr val="accent2"/>
              </a:solidFill>
              <a:latin typeface="Arial"/>
              <a:ea typeface="Arial"/>
              <a:cs typeface="Arial"/>
              <a:sym typeface="Arial"/>
            </a:endParaRPr>
          </a:p>
        </p:txBody>
      </p:sp>
      <p:pic>
        <p:nvPicPr>
          <p:cNvPr id="193" name="Google Shape;193;p15"/>
          <p:cNvPicPr preferRelativeResize="0"/>
          <p:nvPr/>
        </p:nvPicPr>
        <p:blipFill rotWithShape="1">
          <a:blip r:embed="rId3">
            <a:alphaModFix/>
          </a:blip>
          <a:srcRect b="0" l="0" r="0" t="0"/>
          <a:stretch/>
        </p:blipFill>
        <p:spPr>
          <a:xfrm>
            <a:off x="457200" y="1219200"/>
            <a:ext cx="7429500" cy="38798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199" name="Google Shape;199;p16"/>
          <p:cNvSpPr txBox="1"/>
          <p:nvPr/>
        </p:nvSpPr>
        <p:spPr>
          <a:xfrm>
            <a:off x="685800" y="304800"/>
            <a:ext cx="43497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Hoàn thiện ứng dụng Spring</a:t>
            </a:r>
            <a:endParaRPr b="1" i="0" sz="2400" u="none" cap="none" strike="noStrike">
              <a:solidFill>
                <a:schemeClr val="accent2"/>
              </a:solidFill>
              <a:latin typeface="Arial"/>
              <a:ea typeface="Arial"/>
              <a:cs typeface="Arial"/>
              <a:sym typeface="Arial"/>
            </a:endParaRPr>
          </a:p>
        </p:txBody>
      </p:sp>
      <p:sp>
        <p:nvSpPr>
          <p:cNvPr id="200" name="Google Shape;200;p16"/>
          <p:cNvSpPr txBox="1"/>
          <p:nvPr/>
        </p:nvSpPr>
        <p:spPr>
          <a:xfrm>
            <a:off x="657225" y="838200"/>
            <a:ext cx="7924800" cy="192975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SpringMVC: Một module chính của Spring, với một Controller ở trung tâm để xử lý các request/response.</a:t>
            </a:r>
            <a:endParaRPr/>
          </a:p>
          <a:p>
            <a:pPr indent="-342900" lvl="0" marL="342900" marR="0" rtl="0" algn="l">
              <a:lnSpc>
                <a:spcPct val="120000"/>
              </a:lnSpc>
              <a:spcBef>
                <a:spcPts val="6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Controller đơn giản xử lý các request tới đường dẫn gốc (/) và chuyển request tới homepage view:</a:t>
            </a:r>
            <a:endParaRPr/>
          </a:p>
        </p:txBody>
      </p:sp>
      <p:pic>
        <p:nvPicPr>
          <p:cNvPr id="201" name="Google Shape;201;p16"/>
          <p:cNvPicPr preferRelativeResize="0"/>
          <p:nvPr/>
        </p:nvPicPr>
        <p:blipFill rotWithShape="1">
          <a:blip r:embed="rId3">
            <a:alphaModFix/>
          </a:blip>
          <a:srcRect b="0" l="0" r="0" t="0"/>
          <a:stretch/>
        </p:blipFill>
        <p:spPr>
          <a:xfrm>
            <a:off x="990600" y="2946400"/>
            <a:ext cx="7086600" cy="3340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07" name="Google Shape;207;p17"/>
          <p:cNvSpPr txBox="1"/>
          <p:nvPr/>
        </p:nvSpPr>
        <p:spPr>
          <a:xfrm>
            <a:off x="685800" y="304800"/>
            <a:ext cx="372079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Tạo lớp HomeController</a:t>
            </a:r>
            <a:endParaRPr b="1" i="0" sz="2400" u="none" cap="none" strike="noStrike">
              <a:solidFill>
                <a:schemeClr val="accent2"/>
              </a:solidFill>
              <a:latin typeface="Arial"/>
              <a:ea typeface="Arial"/>
              <a:cs typeface="Arial"/>
              <a:sym typeface="Arial"/>
            </a:endParaRPr>
          </a:p>
        </p:txBody>
      </p:sp>
      <p:sp>
        <p:nvSpPr>
          <p:cNvPr id="208" name="Google Shape;208;p17"/>
          <p:cNvSpPr txBox="1"/>
          <p:nvPr/>
        </p:nvSpPr>
        <p:spPr>
          <a:xfrm>
            <a:off x="685800" y="1143000"/>
            <a:ext cx="7924800" cy="572772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Click chuột phải tacos, chọn New -&gt; Class. Đặt tên là HomeController:</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package tacos;</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Import org.springframework.stereotype.Controller;</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import org.springframework.web.bind.annotation.GetMapping;</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@Controller</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public class HomeController {</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	@GetMapping("/")</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	public String home() {</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		return "home";</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	}</a:t>
            </a:r>
            <a:endParaRPr/>
          </a:p>
          <a:p>
            <a:pPr indent="-444500" lvl="1" marL="800100" marR="0" rtl="0" algn="l">
              <a:lnSpc>
                <a:spcPct val="120000"/>
              </a:lnSpc>
              <a:spcBef>
                <a:spcPts val="600"/>
              </a:spcBef>
              <a:spcAft>
                <a:spcPts val="0"/>
              </a:spcAft>
              <a:buNone/>
            </a:pPr>
            <a:r>
              <a:rPr b="0" i="0" lang="en-US" sz="1800" u="none" cap="none" strike="noStrike">
                <a:solidFill>
                  <a:schemeClr val="dk1"/>
                </a:solidFill>
                <a:latin typeface="Courier New"/>
                <a:ea typeface="Courier New"/>
                <a:cs typeface="Courier New"/>
                <a:sym typeface="Courier New"/>
              </a:rPr>
              <a:t>}</a:t>
            </a:r>
            <a:endParaRPr b="0" i="0" sz="18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14" name="Google Shape;214;p18"/>
          <p:cNvSpPr txBox="1"/>
          <p:nvPr/>
        </p:nvSpPr>
        <p:spPr>
          <a:xfrm>
            <a:off x="685800" y="304800"/>
            <a:ext cx="14927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Tạo view</a:t>
            </a:r>
            <a:endParaRPr b="1" i="0" sz="2400" u="none" cap="none" strike="noStrike">
              <a:solidFill>
                <a:schemeClr val="accent2"/>
              </a:solidFill>
              <a:latin typeface="Arial"/>
              <a:ea typeface="Arial"/>
              <a:cs typeface="Arial"/>
              <a:sym typeface="Arial"/>
            </a:endParaRPr>
          </a:p>
        </p:txBody>
      </p:sp>
      <p:sp>
        <p:nvSpPr>
          <p:cNvPr id="215" name="Google Shape;215;p18"/>
          <p:cNvSpPr txBox="1"/>
          <p:nvPr/>
        </p:nvSpPr>
        <p:spPr>
          <a:xfrm>
            <a:off x="657225" y="821468"/>
            <a:ext cx="7924800" cy="570617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View home.html dùng để hiển thị thông tin trang chủ (sau khi được điều hướng từ Controller).</a:t>
            </a:r>
            <a:endParaRPr/>
          </a:p>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Sử dụng template Thymeleaf.</a:t>
            </a:r>
            <a:endParaRPr/>
          </a:p>
          <a:p>
            <a:pPr indent="-342900" lvl="0" marL="342900" marR="0" rtl="0" algn="l">
              <a:lnSpc>
                <a:spcPct val="12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Click chuột phải template, chọn New -&gt; File. Đặt tên là home.html:</a:t>
            </a:r>
            <a:endParaRPr/>
          </a:p>
          <a:p>
            <a:pPr indent="-190500" lvl="0" marL="342900" marR="0" rtl="0" algn="l">
              <a:lnSpc>
                <a:spcPct val="12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Arial"/>
              <a:ea typeface="Arial"/>
              <a:cs typeface="Arial"/>
              <a:sym typeface="Arial"/>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&lt;!DOCTYPE html&gt;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&lt;html xmlns=</a:t>
            </a:r>
            <a:r>
              <a:rPr b="0" i="1" lang="en-US" sz="1600" u="sng" cap="none" strike="noStrike">
                <a:solidFill>
                  <a:schemeClr val="dk1"/>
                </a:solidFill>
                <a:latin typeface="Courier New"/>
                <a:ea typeface="Courier New"/>
                <a:cs typeface="Courier New"/>
                <a:sym typeface="Courier New"/>
                <a:hlinkClick r:id="rId3">
                  <a:extLst>
                    <a:ext uri="{A12FA001-AC4F-418D-AE19-62706E023703}">
                      <ahyp:hlinkClr val="tx"/>
                    </a:ext>
                  </a:extLst>
                </a:hlinkClick>
              </a:rPr>
              <a:t>http://www.w3.org/1999/xhtml</a:t>
            </a:r>
            <a:endParaRPr b="0" i="1" sz="16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xmlns:th=</a:t>
            </a:r>
            <a:r>
              <a:rPr b="0" i="1" lang="en-US" sz="1600" u="none" cap="none" strike="noStrike">
                <a:solidFill>
                  <a:schemeClr val="dk1"/>
                </a:solidFill>
                <a:latin typeface="Courier New"/>
                <a:ea typeface="Courier New"/>
                <a:cs typeface="Courier New"/>
                <a:sym typeface="Courier New"/>
              </a:rPr>
              <a:t>"http://www.thymeleaf.org"&gt;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&lt;head&gt;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&lt;title&gt;</a:t>
            </a:r>
            <a:r>
              <a:rPr b="0" i="0" lang="en-US" sz="1600" u="sng" cap="none" strike="noStrike">
                <a:solidFill>
                  <a:schemeClr val="dk1"/>
                </a:solidFill>
                <a:latin typeface="Courier New"/>
                <a:ea typeface="Courier New"/>
                <a:cs typeface="Courier New"/>
                <a:sym typeface="Courier New"/>
              </a:rPr>
              <a:t>Taco Cloud&lt;/title&gt;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&lt;/head&gt;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&lt;body&gt;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&lt;h1&gt;Welcome to...&lt;/h1&gt;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&lt;img th:src=</a:t>
            </a:r>
            <a:r>
              <a:rPr b="0" i="1" lang="en-US" sz="1600" u="none" cap="none" strike="noStrike">
                <a:solidFill>
                  <a:schemeClr val="dk1"/>
                </a:solidFill>
                <a:latin typeface="Courier New"/>
                <a:ea typeface="Courier New"/>
                <a:cs typeface="Courier New"/>
                <a:sym typeface="Courier New"/>
              </a:rPr>
              <a:t>"@{/images/TacoCloud.png}"/&gt;</a:t>
            </a:r>
            <a:endParaRPr b="0" i="1" sz="16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		          </a:t>
            </a:r>
            <a:r>
              <a:rPr b="0" i="0" lang="en-US" sz="1600" u="none" cap="none" strike="noStrike">
                <a:solidFill>
                  <a:schemeClr val="dk1"/>
                </a:solidFill>
                <a:latin typeface="Courier New"/>
                <a:ea typeface="Courier New"/>
                <a:cs typeface="Courier New"/>
                <a:sym typeface="Courier New"/>
              </a:rPr>
              <a:t>&lt;h3&gt;&lt;a href="/design"&gt; Design your Taco&lt;/a&gt;&lt;/h3&gt;</a:t>
            </a:r>
            <a:endParaRPr b="0" i="0" sz="16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&lt;/body&gt;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&lt;/html&gt;</a:t>
            </a:r>
            <a:endParaRPr b="0" i="0" sz="16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b="0" i="0" lang="en-US" sz="1000" u="none" cap="none" strike="noStrike">
                <a:solidFill>
                  <a:schemeClr val="dk1"/>
                </a:solidFill>
                <a:latin typeface="Times New Roman"/>
                <a:ea typeface="Times New Roman"/>
                <a:cs typeface="Times New Roman"/>
                <a:sym typeface="Times New Roman"/>
              </a:rPr>
              <a:t>Slide </a:t>
            </a:r>
            <a:fld id="{00000000-1234-1234-1234-123412341234}" type="slidenum">
              <a:rPr b="0" i="0" lang="en-US" sz="1000" u="none" cap="none" strike="noStrike">
                <a:solidFill>
                  <a:schemeClr val="dk1"/>
                </a:solidFill>
                <a:latin typeface="Times New Roman"/>
                <a:ea typeface="Times New Roman"/>
                <a:cs typeface="Times New Roman"/>
                <a:sym typeface="Times New Roman"/>
              </a:rPr>
              <a:t>‹#›</a:t>
            </a:fld>
            <a:endParaRPr b="0" i="0" sz="1000" u="none" cap="none" strike="noStrike">
              <a:solidFill>
                <a:schemeClr val="dk1"/>
              </a:solidFill>
              <a:latin typeface="Times New Roman"/>
              <a:ea typeface="Times New Roman"/>
              <a:cs typeface="Times New Roman"/>
              <a:sym typeface="Times New Roman"/>
            </a:endParaRPr>
          </a:p>
        </p:txBody>
      </p:sp>
      <p:sp>
        <p:nvSpPr>
          <p:cNvPr id="221" name="Google Shape;221;p19"/>
          <p:cNvSpPr txBox="1"/>
          <p:nvPr/>
        </p:nvSpPr>
        <p:spPr>
          <a:xfrm>
            <a:off x="685800" y="304800"/>
            <a:ext cx="35845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accent2"/>
                </a:solidFill>
                <a:latin typeface="Arial"/>
                <a:ea typeface="Arial"/>
                <a:cs typeface="Arial"/>
                <a:sym typeface="Arial"/>
              </a:rPr>
              <a:t>Dịch và chạy ứng dụng</a:t>
            </a:r>
            <a:endParaRPr b="1" i="0" sz="2400" u="none" cap="none" strike="noStrike">
              <a:solidFill>
                <a:schemeClr val="accent2"/>
              </a:solidFill>
              <a:latin typeface="Arial"/>
              <a:ea typeface="Arial"/>
              <a:cs typeface="Arial"/>
              <a:sym typeface="Arial"/>
            </a:endParaRPr>
          </a:p>
        </p:txBody>
      </p:sp>
      <p:sp>
        <p:nvSpPr>
          <p:cNvPr id="222" name="Google Shape;222;p19"/>
          <p:cNvSpPr txBox="1"/>
          <p:nvPr/>
        </p:nvSpPr>
        <p:spPr>
          <a:xfrm>
            <a:off x="657225" y="838200"/>
            <a:ext cx="8029575" cy="120015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Sử dụng cửa sổ SpringBoot Dashboard (nằm góc dưới phải màn hình). </a:t>
            </a:r>
            <a:endParaRPr/>
          </a:p>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Nếu cửa sổ chưa bật, chọn nút       trên thanh công cụ.</a:t>
            </a:r>
            <a:endParaRPr/>
          </a:p>
        </p:txBody>
      </p:sp>
      <p:pic>
        <p:nvPicPr>
          <p:cNvPr id="223" name="Google Shape;223;p19"/>
          <p:cNvPicPr preferRelativeResize="0"/>
          <p:nvPr/>
        </p:nvPicPr>
        <p:blipFill rotWithShape="1">
          <a:blip r:embed="rId3">
            <a:alphaModFix/>
          </a:blip>
          <a:srcRect b="0" l="0" r="0" t="0"/>
          <a:stretch/>
        </p:blipFill>
        <p:spPr>
          <a:xfrm>
            <a:off x="1219200" y="2057400"/>
            <a:ext cx="6365578" cy="4440237"/>
          </a:xfrm>
          <a:prstGeom prst="rect">
            <a:avLst/>
          </a:prstGeom>
          <a:noFill/>
          <a:ln>
            <a:noFill/>
          </a:ln>
        </p:spPr>
      </p:pic>
      <p:pic>
        <p:nvPicPr>
          <p:cNvPr id="224" name="Google Shape;224;p19"/>
          <p:cNvPicPr preferRelativeResize="0"/>
          <p:nvPr/>
        </p:nvPicPr>
        <p:blipFill rotWithShape="1">
          <a:blip r:embed="rId4">
            <a:alphaModFix/>
          </a:blip>
          <a:srcRect b="0" l="0" r="0" t="0"/>
          <a:stretch/>
        </p:blipFill>
        <p:spPr>
          <a:xfrm>
            <a:off x="5383213" y="1627188"/>
            <a:ext cx="431800" cy="368300"/>
          </a:xfrm>
          <a:prstGeom prst="rect">
            <a:avLst/>
          </a:prstGeom>
          <a:noFill/>
          <a:ln>
            <a:noFill/>
          </a:ln>
        </p:spPr>
      </p:pic>
      <p:sp>
        <p:nvSpPr>
          <p:cNvPr id="225" name="Google Shape;225;p19"/>
          <p:cNvSpPr/>
          <p:nvPr/>
        </p:nvSpPr>
        <p:spPr>
          <a:xfrm>
            <a:off x="4038600" y="3200400"/>
            <a:ext cx="533400" cy="457200"/>
          </a:xfrm>
          <a:prstGeom prst="ellipse">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6" name="Google Shape;226;p19"/>
          <p:cNvSpPr txBox="1"/>
          <p:nvPr/>
        </p:nvSpPr>
        <p:spPr>
          <a:xfrm>
            <a:off x="1752600" y="2743200"/>
            <a:ext cx="2057400" cy="461665"/>
          </a:xfrm>
          <a:prstGeom prst="rect">
            <a:avLst/>
          </a:prstGeom>
          <a:solidFill>
            <a:schemeClr val="lt1"/>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Chạy ứng dụng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32" name="Google Shape;232;p20"/>
          <p:cNvSpPr txBox="1"/>
          <p:nvPr/>
        </p:nvSpPr>
        <p:spPr>
          <a:xfrm>
            <a:off x="685800" y="304800"/>
            <a:ext cx="41465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Kết quả khi chạy ứng dụng</a:t>
            </a:r>
            <a:endParaRPr b="1" sz="2400">
              <a:solidFill>
                <a:schemeClr val="accent2"/>
              </a:solidFill>
              <a:latin typeface="Arial"/>
              <a:ea typeface="Arial"/>
              <a:cs typeface="Arial"/>
              <a:sym typeface="Arial"/>
            </a:endParaRPr>
          </a:p>
        </p:txBody>
      </p:sp>
      <p:sp>
        <p:nvSpPr>
          <p:cNvPr id="233" name="Google Shape;233;p20"/>
          <p:cNvSpPr txBox="1"/>
          <p:nvPr/>
        </p:nvSpPr>
        <p:spPr>
          <a:xfrm>
            <a:off x="682625" y="914400"/>
            <a:ext cx="7924800" cy="148963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Chạy thành công, bật trình duyệt gõ: localhost:8080</a:t>
            </a:r>
            <a:endParaRPr/>
          </a:p>
          <a:p>
            <a:pPr indent="-342900" lvl="0" marL="342900" marR="0" rtl="0" algn="l">
              <a:lnSpc>
                <a:spcPct val="120000"/>
              </a:lnSpc>
              <a:spcBef>
                <a:spcPts val="600"/>
              </a:spcBef>
              <a:spcAft>
                <a:spcPts val="0"/>
              </a:spcAft>
              <a:buClr>
                <a:schemeClr val="dk1"/>
              </a:buClr>
              <a:buSzPts val="1800"/>
              <a:buFont typeface="Arial"/>
              <a:buChar char="•"/>
            </a:pPr>
            <a:r>
              <a:rPr lang="en-US" sz="1800">
                <a:solidFill>
                  <a:schemeClr val="dk1"/>
                </a:solidFill>
                <a:latin typeface="Arial"/>
                <a:ea typeface="Arial"/>
                <a:cs typeface="Arial"/>
                <a:sym typeface="Arial"/>
              </a:rPr>
              <a:t>Lưu ý: Do Spring Boot được triển khai mặc định cùng Tomcat ở cổng 8080 nên khi chạy ứng dụng phải ngắt các Web server khác (VD Glassfish, hoặc Tomcat bản ngoài) đang chạy cổng 8080 đi.</a:t>
            </a:r>
            <a:endParaRPr/>
          </a:p>
        </p:txBody>
      </p:sp>
      <p:pic>
        <p:nvPicPr>
          <p:cNvPr id="234" name="Google Shape;234;p20"/>
          <p:cNvPicPr preferRelativeResize="0"/>
          <p:nvPr/>
        </p:nvPicPr>
        <p:blipFill rotWithShape="1">
          <a:blip r:embed="rId3">
            <a:alphaModFix/>
          </a:blip>
          <a:srcRect b="0" l="0" r="0" t="0"/>
          <a:stretch/>
        </p:blipFill>
        <p:spPr>
          <a:xfrm>
            <a:off x="1397000" y="2509838"/>
            <a:ext cx="6223000" cy="382428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41" name="Google Shape;241;p21"/>
          <p:cNvSpPr txBox="1"/>
          <p:nvPr/>
        </p:nvSpPr>
        <p:spPr>
          <a:xfrm>
            <a:off x="685800" y="304800"/>
            <a:ext cx="52784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Cải tiến ứng dụng Web Taco Cloud</a:t>
            </a:r>
            <a:endParaRPr b="1" sz="2400">
              <a:solidFill>
                <a:schemeClr val="accent2"/>
              </a:solidFill>
              <a:latin typeface="Arial"/>
              <a:ea typeface="Arial"/>
              <a:cs typeface="Arial"/>
              <a:sym typeface="Arial"/>
            </a:endParaRPr>
          </a:p>
        </p:txBody>
      </p:sp>
      <p:sp>
        <p:nvSpPr>
          <p:cNvPr id="242" name="Google Shape;242;p21"/>
          <p:cNvSpPr txBox="1"/>
          <p:nvPr/>
        </p:nvSpPr>
        <p:spPr>
          <a:xfrm>
            <a:off x="657225" y="1066800"/>
            <a:ext cx="7924800" cy="521578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Mục tiêu:</a:t>
            </a:r>
            <a:endParaRPr/>
          </a:p>
          <a:p>
            <a:pPr indent="-342900" lvl="1" marL="800100" marR="0" rtl="0" algn="l">
              <a:lnSpc>
                <a:spcPct val="12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Hệ thống liệt kê các lựa chọn thành phần (lấy từ CSDL) trên 1 trang web</a:t>
            </a:r>
            <a:endParaRPr/>
          </a:p>
          <a:p>
            <a:pPr indent="-342900" lvl="1" marL="800100" marR="0" rtl="0" algn="l">
              <a:lnSpc>
                <a:spcPct val="12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Cho phép khách hàng xem và chọn thành phần của bánh</a:t>
            </a:r>
            <a:endParaRPr/>
          </a:p>
          <a:p>
            <a:pPr indent="-342900" lvl="0" marL="342900" marR="0" rtl="0" algn="l">
              <a:lnSpc>
                <a:spcPct val="120000"/>
              </a:lnSpc>
              <a:spcBef>
                <a:spcPts val="1200"/>
              </a:spcBef>
              <a:spcAft>
                <a:spcPts val="0"/>
              </a:spcAft>
              <a:buClr>
                <a:schemeClr val="dk1"/>
              </a:buClr>
              <a:buSzPts val="2400"/>
              <a:buFont typeface="Arial"/>
              <a:buChar char="•"/>
            </a:pPr>
            <a:r>
              <a:rPr lang="en-US" sz="2400">
                <a:solidFill>
                  <a:schemeClr val="dk1"/>
                </a:solidFill>
                <a:latin typeface="Arial"/>
                <a:ea typeface="Arial"/>
                <a:cs typeface="Arial"/>
                <a:sym typeface="Arial"/>
              </a:rPr>
              <a:t>Thành phần ứng dụng:</a:t>
            </a:r>
            <a:endParaRPr/>
          </a:p>
          <a:p>
            <a:pPr indent="-342900" lvl="1" marL="800100" marR="0" rtl="0" algn="l">
              <a:lnSpc>
                <a:spcPct val="12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Lớp thực thể Ingredient định nghĩa các thành phần của bánh</a:t>
            </a:r>
            <a:endParaRPr/>
          </a:p>
          <a:p>
            <a:pPr indent="-342900" lvl="1" marL="800100" marR="0" rtl="0" algn="l">
              <a:lnSpc>
                <a:spcPct val="12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Lớp Spring MVC Taco Design Controller tiếp nhận yêu cầu (request), trích xuất các tham số (thành phần) và chuyển đến view.</a:t>
            </a:r>
            <a:endParaRPr/>
          </a:p>
          <a:p>
            <a:pPr indent="-342900" lvl="1" marL="800100" marR="0" rtl="0" algn="l">
              <a:lnSpc>
                <a:spcPct val="12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Trang view design.html hiển thị danh sách thành phần để hiển thị trên trang Web.</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48" name="Google Shape;248;p22"/>
          <p:cNvSpPr txBox="1"/>
          <p:nvPr/>
        </p:nvSpPr>
        <p:spPr>
          <a:xfrm>
            <a:off x="685800" y="304800"/>
            <a:ext cx="52784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Cải tiến ứng dụng Web Taco Cloud</a:t>
            </a:r>
            <a:endParaRPr b="1" sz="2400">
              <a:solidFill>
                <a:schemeClr val="accent2"/>
              </a:solidFill>
              <a:latin typeface="Arial"/>
              <a:ea typeface="Arial"/>
              <a:cs typeface="Arial"/>
              <a:sym typeface="Arial"/>
            </a:endParaRPr>
          </a:p>
        </p:txBody>
      </p:sp>
      <p:pic>
        <p:nvPicPr>
          <p:cNvPr id="249" name="Google Shape;249;p22"/>
          <p:cNvPicPr preferRelativeResize="0"/>
          <p:nvPr/>
        </p:nvPicPr>
        <p:blipFill rotWithShape="1">
          <a:blip r:embed="rId3">
            <a:alphaModFix/>
          </a:blip>
          <a:srcRect b="0" l="0" r="0" t="0"/>
          <a:stretch/>
        </p:blipFill>
        <p:spPr>
          <a:xfrm>
            <a:off x="990600" y="1219200"/>
            <a:ext cx="6934200" cy="476091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56" name="Google Shape;256;p23"/>
          <p:cNvSpPr txBox="1"/>
          <p:nvPr/>
        </p:nvSpPr>
        <p:spPr>
          <a:xfrm>
            <a:off x="685800" y="304800"/>
            <a:ext cx="23510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Ingredient</a:t>
            </a:r>
            <a:endParaRPr b="1" sz="2400">
              <a:solidFill>
                <a:schemeClr val="accent2"/>
              </a:solidFill>
              <a:latin typeface="Arial"/>
              <a:ea typeface="Arial"/>
              <a:cs typeface="Arial"/>
              <a:sym typeface="Arial"/>
            </a:endParaRPr>
          </a:p>
        </p:txBody>
      </p:sp>
      <p:sp>
        <p:nvSpPr>
          <p:cNvPr id="257" name="Google Shape;257;p23"/>
          <p:cNvSpPr txBox="1"/>
          <p:nvPr/>
        </p:nvSpPr>
        <p:spPr>
          <a:xfrm>
            <a:off x="762000" y="990600"/>
            <a:ext cx="7924800" cy="541071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Click chuột phải tacos, chọn New -&gt; Class. Đặt tên là Ingredient:</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package tacos;</a:t>
            </a:r>
            <a:endParaRPr/>
          </a:p>
          <a:p>
            <a:pPr indent="-444500" lvl="1" marL="800100" marR="0" rtl="0" algn="l">
              <a:spcBef>
                <a:spcPts val="0"/>
              </a:spcBef>
              <a:spcAft>
                <a:spcPts val="0"/>
              </a:spcAft>
              <a:buNone/>
            </a:pPr>
            <a:r>
              <a:t/>
            </a:r>
            <a:endParaRPr b="0" i="0" sz="18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import lombok.Data;</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import lombok.RequiredArgsConstructor;</a:t>
            </a:r>
            <a:endParaRPr/>
          </a:p>
          <a:p>
            <a:pPr indent="-444500" lvl="1" marL="800100" marR="0" rtl="0" algn="l">
              <a:spcBef>
                <a:spcPts val="0"/>
              </a:spcBef>
              <a:spcAft>
                <a:spcPts val="0"/>
              </a:spcAft>
              <a:buNone/>
            </a:pPr>
            <a:r>
              <a:t/>
            </a:r>
            <a:endParaRPr b="0" i="0" sz="18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@Data</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@RequiredArgsConstructor</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public class Ingredient {</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private final String id;</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private final String name;</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private final Type type;</a:t>
            </a:r>
            <a:endParaRPr/>
          </a:p>
          <a:p>
            <a:pPr indent="-444500" lvl="1" marL="800100" marR="0" rtl="0" algn="l">
              <a:spcBef>
                <a:spcPts val="0"/>
              </a:spcBef>
              <a:spcAft>
                <a:spcPts val="0"/>
              </a:spcAft>
              <a:buNone/>
            </a:pPr>
            <a:r>
              <a:t/>
            </a:r>
            <a:endParaRPr b="0" i="0" sz="18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public static enum Type {</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WRAP, PROTEIN, VEGGIES, CHEESE, SAUCE</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	}	</a:t>
            </a:r>
            <a:endParaRPr/>
          </a:p>
          <a:p>
            <a:pPr indent="-444500" lvl="1" marL="800100" marR="0" rtl="0" algn="l">
              <a:spcBef>
                <a:spcPts val="0"/>
              </a:spcBef>
              <a:spcAft>
                <a:spcPts val="0"/>
              </a:spcAft>
              <a:buNone/>
            </a:pPr>
            <a:r>
              <a:rPr b="0" i="0" lang="en-US" sz="18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64" name="Google Shape;264;p24"/>
          <p:cNvSpPr txBox="1"/>
          <p:nvPr/>
        </p:nvSpPr>
        <p:spPr>
          <a:xfrm>
            <a:off x="685800" y="304800"/>
            <a:ext cx="27672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Thư viện Lombok</a:t>
            </a:r>
            <a:endParaRPr b="1" sz="2400">
              <a:solidFill>
                <a:schemeClr val="accent2"/>
              </a:solidFill>
              <a:latin typeface="Arial"/>
              <a:ea typeface="Arial"/>
              <a:cs typeface="Arial"/>
              <a:sym typeface="Arial"/>
            </a:endParaRPr>
          </a:p>
        </p:txBody>
      </p:sp>
      <p:sp>
        <p:nvSpPr>
          <p:cNvPr id="265" name="Google Shape;265;p24"/>
          <p:cNvSpPr txBox="1"/>
          <p:nvPr/>
        </p:nvSpPr>
        <p:spPr>
          <a:xfrm>
            <a:off x="762000" y="990600"/>
            <a:ext cx="7924800" cy="413651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Tự động tạo ra các hàm Constructor và Get/Set khi chạy</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Sử dụng Lombok để giảm bớt code Java</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Lombok là thư viện ngoài, do vậy phải bổ sung dependency vào file pom.xml</a:t>
            </a:r>
            <a:endParaRPr/>
          </a:p>
          <a:p>
            <a:pPr indent="-190500" lvl="0" marL="342900" marR="0" rtl="0" algn="l">
              <a:lnSpc>
                <a:spcPct val="120000"/>
              </a:lnSpc>
              <a:spcBef>
                <a:spcPts val="0"/>
              </a:spcBef>
              <a:spcAft>
                <a:spcPts val="0"/>
              </a:spcAft>
              <a:buClr>
                <a:schemeClr val="dk1"/>
              </a:buClr>
              <a:buSzPts val="2400"/>
              <a:buFont typeface="Times New Roman"/>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&lt;dependency&gt;</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&lt;groupId&gt;org.projectlombok&lt;/groupId&gt;</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&lt;artifactId&gt;lombok&lt;/artifactId&gt;</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&lt;optional&gt;true&lt;/optional&gt;</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&lt;/dependency&gt;</a:t>
            </a:r>
            <a:endParaRPr sz="1800">
              <a:solidFill>
                <a:schemeClr val="dk1"/>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72" name="Google Shape;272;p25"/>
          <p:cNvSpPr txBox="1"/>
          <p:nvPr/>
        </p:nvSpPr>
        <p:spPr>
          <a:xfrm>
            <a:off x="685800" y="304800"/>
            <a:ext cx="27672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Thư viện Lombok</a:t>
            </a:r>
            <a:endParaRPr b="1" sz="2400">
              <a:solidFill>
                <a:schemeClr val="accent2"/>
              </a:solidFill>
              <a:latin typeface="Arial"/>
              <a:ea typeface="Arial"/>
              <a:cs typeface="Arial"/>
              <a:sym typeface="Arial"/>
            </a:endParaRPr>
          </a:p>
        </p:txBody>
      </p:sp>
      <p:sp>
        <p:nvSpPr>
          <p:cNvPr id="273" name="Google Shape;273;p25"/>
          <p:cNvSpPr txBox="1"/>
          <p:nvPr/>
        </p:nvSpPr>
        <p:spPr>
          <a:xfrm>
            <a:off x="762000" y="990600"/>
            <a:ext cx="7924800" cy="185281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Cần bổ sung Lombok thành extension của IDE</a:t>
            </a:r>
            <a:endParaRPr/>
          </a:p>
          <a:p>
            <a:pPr indent="0" lvl="0" marL="0" marR="0" rtl="0" algn="l">
              <a:lnSpc>
                <a:spcPct val="120000"/>
              </a:lnSpc>
              <a:spcBef>
                <a:spcPts val="0"/>
              </a:spcBef>
              <a:spcAft>
                <a:spcPts val="0"/>
              </a:spcAft>
              <a:buNone/>
            </a:pPr>
            <a:r>
              <a:rPr lang="en-US" sz="2400">
                <a:solidFill>
                  <a:schemeClr val="dk1"/>
                </a:solidFill>
                <a:latin typeface="Arial"/>
                <a:ea typeface="Arial"/>
                <a:cs typeface="Arial"/>
                <a:sym typeface="Arial"/>
              </a:rPr>
              <a:t>B1: Mở rộng Maven Dependencies trong cửa sổ Project Explorer, click chuột phải lombok.jar, chọn Run As -&gt; Java Application:</a:t>
            </a:r>
            <a:endParaRPr/>
          </a:p>
        </p:txBody>
      </p:sp>
      <p:pic>
        <p:nvPicPr>
          <p:cNvPr descr="Screen Shot 2020-07-29 at 4.32.24 PM.png" id="274" name="Google Shape;274;p25"/>
          <p:cNvPicPr preferRelativeResize="0"/>
          <p:nvPr/>
        </p:nvPicPr>
        <p:blipFill rotWithShape="1">
          <a:blip r:embed="rId3">
            <a:alphaModFix/>
          </a:blip>
          <a:srcRect b="0" l="0" r="0" t="0"/>
          <a:stretch/>
        </p:blipFill>
        <p:spPr>
          <a:xfrm>
            <a:off x="2006600" y="3011275"/>
            <a:ext cx="5232400" cy="3465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80" name="Google Shape;280;p26"/>
          <p:cNvSpPr txBox="1"/>
          <p:nvPr/>
        </p:nvSpPr>
        <p:spPr>
          <a:xfrm>
            <a:off x="685800" y="304800"/>
            <a:ext cx="27672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Thư viện Lombok</a:t>
            </a:r>
            <a:endParaRPr b="1" sz="2400">
              <a:solidFill>
                <a:schemeClr val="accent2"/>
              </a:solidFill>
              <a:latin typeface="Arial"/>
              <a:ea typeface="Arial"/>
              <a:cs typeface="Arial"/>
              <a:sym typeface="Arial"/>
            </a:endParaRPr>
          </a:p>
        </p:txBody>
      </p:sp>
      <p:sp>
        <p:nvSpPr>
          <p:cNvPr id="281" name="Google Shape;281;p26"/>
          <p:cNvSpPr txBox="1"/>
          <p:nvPr/>
        </p:nvSpPr>
        <p:spPr>
          <a:xfrm>
            <a:off x="762000" y="990600"/>
            <a:ext cx="7924800" cy="185281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400">
                <a:solidFill>
                  <a:schemeClr val="dk1"/>
                </a:solidFill>
                <a:latin typeface="Arial"/>
                <a:ea typeface="Arial"/>
                <a:cs typeface="Arial"/>
                <a:sym typeface="Arial"/>
              </a:rPr>
              <a:t>B2: Trong cửa sổ hiện ra, chọn Specify Location, chọn đường dẫn tới nơi cài đặt Spring Tool Suite -&gt; Content -&gt; Eclipse -&gt; SpringToolSuite4.ini. Click Install -&gt; Quick Installer. Khởi động lại Spring Tool Suite.</a:t>
            </a:r>
            <a:endParaRPr/>
          </a:p>
        </p:txBody>
      </p:sp>
      <p:pic>
        <p:nvPicPr>
          <p:cNvPr descr="Screen Shot 2020-07-29 at 4.34.51 PM.png" id="282" name="Google Shape;282;p26"/>
          <p:cNvPicPr preferRelativeResize="0"/>
          <p:nvPr/>
        </p:nvPicPr>
        <p:blipFill rotWithShape="1">
          <a:blip r:embed="rId3">
            <a:alphaModFix/>
          </a:blip>
          <a:srcRect b="0" l="0" r="0" t="0"/>
          <a:stretch/>
        </p:blipFill>
        <p:spPr>
          <a:xfrm>
            <a:off x="1828799" y="3048000"/>
            <a:ext cx="5616361" cy="329304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88" name="Google Shape;288;p27"/>
          <p:cNvSpPr txBox="1"/>
          <p:nvPr/>
        </p:nvSpPr>
        <p:spPr>
          <a:xfrm>
            <a:off x="685800" y="304800"/>
            <a:ext cx="276725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Thư viện Lombok</a:t>
            </a:r>
            <a:endParaRPr b="1" sz="2400">
              <a:solidFill>
                <a:schemeClr val="accent2"/>
              </a:solidFill>
              <a:latin typeface="Arial"/>
              <a:ea typeface="Arial"/>
              <a:cs typeface="Arial"/>
              <a:sym typeface="Arial"/>
            </a:endParaRPr>
          </a:p>
        </p:txBody>
      </p:sp>
      <p:sp>
        <p:nvSpPr>
          <p:cNvPr id="289" name="Google Shape;289;p27"/>
          <p:cNvSpPr txBox="1"/>
          <p:nvPr/>
        </p:nvSpPr>
        <p:spPr>
          <a:xfrm>
            <a:off x="762000" y="762000"/>
            <a:ext cx="7924800" cy="966418"/>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400">
                <a:solidFill>
                  <a:schemeClr val="dk1"/>
                </a:solidFill>
                <a:latin typeface="Arial"/>
                <a:ea typeface="Arial"/>
                <a:cs typeface="Arial"/>
                <a:sym typeface="Arial"/>
              </a:rPr>
              <a:t>B3: Update Maven Dependencies: Click chuột phải và tên Project, chọn Maven -&gt; Update Project. Bấm OK.</a:t>
            </a:r>
            <a:endParaRPr/>
          </a:p>
        </p:txBody>
      </p:sp>
      <p:pic>
        <p:nvPicPr>
          <p:cNvPr descr="Screen Shot 2020-07-29 at 4.40.31 PM.png" id="290" name="Google Shape;290;p27"/>
          <p:cNvPicPr preferRelativeResize="0"/>
          <p:nvPr/>
        </p:nvPicPr>
        <p:blipFill rotWithShape="1">
          <a:blip r:embed="rId3">
            <a:alphaModFix/>
          </a:blip>
          <a:srcRect b="0" l="0" r="0" t="0"/>
          <a:stretch/>
        </p:blipFill>
        <p:spPr>
          <a:xfrm>
            <a:off x="2286000" y="1790700"/>
            <a:ext cx="4749800" cy="483436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297" name="Google Shape;297;p28"/>
          <p:cNvSpPr txBox="1"/>
          <p:nvPr/>
        </p:nvSpPr>
        <p:spPr>
          <a:xfrm>
            <a:off x="685800" y="304800"/>
            <a:ext cx="40560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DesignTacoController</a:t>
            </a:r>
            <a:endParaRPr b="1" sz="2400">
              <a:solidFill>
                <a:schemeClr val="accent2"/>
              </a:solidFill>
              <a:latin typeface="Arial"/>
              <a:ea typeface="Arial"/>
              <a:cs typeface="Arial"/>
              <a:sym typeface="Arial"/>
            </a:endParaRPr>
          </a:p>
        </p:txBody>
      </p:sp>
      <p:sp>
        <p:nvSpPr>
          <p:cNvPr id="298" name="Google Shape;298;p28"/>
          <p:cNvSpPr txBox="1"/>
          <p:nvPr/>
        </p:nvSpPr>
        <p:spPr>
          <a:xfrm>
            <a:off x="762000" y="990600"/>
            <a:ext cx="7924800" cy="568771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Click chuột phải tacos, chọn New -&gt; Class. Đặt tên là DesignTacoController, package là tacos.web:</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package tacos.web;</a:t>
            </a:r>
            <a:endParaRPr/>
          </a:p>
          <a:p>
            <a:pPr indent="-444500" lvl="1" marL="8001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java.util.ArrayList;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java.util.Arrays;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java.util.List;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java.util.stream.Collectors;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javax.validation.Valid;</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org.springframework.stereotype.Controller;</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org.springframework.ui.Model;</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org.springframework.validation.Errors;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org.springframework.web.bind.annotation.GetMapping;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org.springframework.web.bind.annotation.PostMapping;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org.springframework.web.bind.annotation.RequestMapping;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lombok.extern.slf4j.Slf4j;</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tacos.Taco;</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tacos.Ingredient;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tacos.Ingredient.Type;</a:t>
            </a:r>
            <a:endParaRPr/>
          </a:p>
          <a:p>
            <a:pPr indent="-444500" lvl="1" marL="800100" marR="0" rtl="0" algn="l">
              <a:spcBef>
                <a:spcPts val="0"/>
              </a:spcBef>
              <a:spcAft>
                <a:spcPts val="0"/>
              </a:spcAft>
              <a:buNone/>
            </a:pPr>
            <a:r>
              <a:t/>
            </a:r>
            <a:endParaRPr b="0" i="0" sz="18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05" name="Google Shape;305;p29"/>
          <p:cNvSpPr txBox="1"/>
          <p:nvPr/>
        </p:nvSpPr>
        <p:spPr>
          <a:xfrm>
            <a:off x="685800" y="304800"/>
            <a:ext cx="489478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DesignTacoController (tiếp)</a:t>
            </a:r>
            <a:endParaRPr b="1" sz="2400">
              <a:solidFill>
                <a:schemeClr val="accent2"/>
              </a:solidFill>
              <a:latin typeface="Arial"/>
              <a:ea typeface="Arial"/>
              <a:cs typeface="Arial"/>
              <a:sym typeface="Arial"/>
            </a:endParaRPr>
          </a:p>
        </p:txBody>
      </p:sp>
      <p:sp>
        <p:nvSpPr>
          <p:cNvPr id="306" name="Google Shape;306;p29"/>
          <p:cNvSpPr txBox="1"/>
          <p:nvPr/>
        </p:nvSpPr>
        <p:spPr>
          <a:xfrm>
            <a:off x="304800" y="990600"/>
            <a:ext cx="8610600" cy="5693867"/>
          </a:xfrm>
          <a:prstGeom prst="rect">
            <a:avLst/>
          </a:prstGeom>
          <a:noFill/>
          <a:ln>
            <a:noFill/>
          </a:ln>
        </p:spPr>
        <p:txBody>
          <a:bodyPr anchorCtr="0" anchor="t" bIns="45700" lIns="91425" spcFirstLastPara="1" rIns="91425" wrap="square" tIns="45700">
            <a:spAutoFit/>
          </a:bodyPr>
          <a:lstStyle/>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@Slf4j</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@Controller</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@RequestMapping("/design")</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public class DesignTacoController {</a:t>
            </a:r>
            <a:endParaRPr/>
          </a:p>
          <a:p>
            <a:pPr indent="0" lvl="0" marL="0" marR="0" rtl="0" algn="l">
              <a:spcBef>
                <a:spcPts val="0"/>
              </a:spcBef>
              <a:spcAft>
                <a:spcPts val="0"/>
              </a:spcAft>
              <a:buNone/>
            </a:pPr>
            <a:r>
              <a:rPr lang="en-US" sz="1600">
                <a:solidFill>
                  <a:schemeClr val="dk1"/>
                </a:solidFill>
                <a:latin typeface="Courier New"/>
                <a:ea typeface="Courier New"/>
                <a:cs typeface="Courier New"/>
                <a:sym typeface="Courier New"/>
              </a:rPr>
              <a:t>	@ModelAttribute</a:t>
            </a:r>
            <a:endParaRPr/>
          </a:p>
          <a:p>
            <a:pPr indent="0" lvl="0" marL="0" marR="0" rtl="0" algn="l">
              <a:spcBef>
                <a:spcPts val="0"/>
              </a:spcBef>
              <a:spcAft>
                <a:spcPts val="0"/>
              </a:spcAft>
              <a:buNone/>
            </a:pPr>
            <a:r>
              <a:rPr lang="en-US" sz="1600">
                <a:solidFill>
                  <a:schemeClr val="dk1"/>
                </a:solidFill>
                <a:latin typeface="Courier New"/>
                <a:ea typeface="Courier New"/>
                <a:cs typeface="Courier New"/>
                <a:sym typeface="Courier New"/>
              </a:rPr>
              <a:t>	public void addIngredientsToModel(Model model) {</a:t>
            </a:r>
            <a:endParaRPr sz="3200">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List&lt;Ingredient&gt; ingredients = Arrays.asList(new 		      Ingredient("FLTO", "Flour Tortilla", Type.WRAP),</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new Ingredient("COTO", "Corn Tortilla", Type.WRAP), new Ingredient("GRBF", "Ground Beef", Type.PROTEIN),</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new Ingredient("CARN", "Carnitas", Type.PROTEIN),</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new Ingredient("TMTO", "Diced Tomatoes", Type.VEGGIES), new Ingredient("LETC", "Lettuce", Type.VEGGIES),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new Ingredient("CHED", "Cheddar", Type.CHEESE), new Ingredient("JACK", "Monterrey Jack", Type.CHEESE),</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new Ingredient("SLSA", "Salsa", Type.SAUCE), new Ingredient("SRCR", "Sour Cream", Type.SAUCE));</a:t>
            </a:r>
            <a:endParaRPr b="0" i="0" sz="14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400" u="none" cap="none" strike="noStrike">
                <a:solidFill>
                  <a:schemeClr val="dk1"/>
                </a:solidFill>
                <a:latin typeface="Courier New"/>
                <a:ea typeface="Courier New"/>
                <a:cs typeface="Courier New"/>
                <a:sym typeface="Courier New"/>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12" name="Google Shape;312;p30"/>
          <p:cNvSpPr txBox="1"/>
          <p:nvPr/>
        </p:nvSpPr>
        <p:spPr>
          <a:xfrm>
            <a:off x="685800" y="304800"/>
            <a:ext cx="489478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DesignTacoController (tiếp)</a:t>
            </a:r>
            <a:endParaRPr b="1" sz="2400">
              <a:solidFill>
                <a:schemeClr val="accent2"/>
              </a:solidFill>
              <a:latin typeface="Arial"/>
              <a:ea typeface="Arial"/>
              <a:cs typeface="Arial"/>
              <a:sym typeface="Arial"/>
            </a:endParaRPr>
          </a:p>
        </p:txBody>
      </p:sp>
      <p:sp>
        <p:nvSpPr>
          <p:cNvPr id="313" name="Google Shape;313;p30"/>
          <p:cNvSpPr txBox="1"/>
          <p:nvPr/>
        </p:nvSpPr>
        <p:spPr>
          <a:xfrm>
            <a:off x="304800" y="838200"/>
            <a:ext cx="8610600" cy="6001644"/>
          </a:xfrm>
          <a:prstGeom prst="rect">
            <a:avLst/>
          </a:prstGeom>
          <a:noFill/>
          <a:ln>
            <a:noFill/>
          </a:ln>
        </p:spPr>
        <p:txBody>
          <a:bodyPr anchorCtr="0" anchor="t" bIns="45700" lIns="91425" spcFirstLastPara="1" rIns="91425" wrap="square" tIns="45700">
            <a:spAutoFit/>
          </a:bodyPr>
          <a:lstStyle/>
          <a:p>
            <a:pPr indent="-444500" lvl="1" marL="800100" marR="0" rtl="0" algn="l">
              <a:spcBef>
                <a:spcPts val="0"/>
              </a:spcBef>
              <a:spcAft>
                <a:spcPts val="0"/>
              </a:spcAft>
              <a:buNone/>
            </a:pPr>
            <a:r>
              <a:rPr b="0" i="0" lang="en-US" sz="1400" u="none" cap="none" strike="noStrike">
                <a:solidFill>
                  <a:schemeClr val="dk1"/>
                </a:solidFill>
                <a:latin typeface="Courier New"/>
                <a:ea typeface="Courier New"/>
                <a:cs typeface="Courier New"/>
                <a:sym typeface="Courier New"/>
              </a:rPr>
              <a:t>	</a:t>
            </a:r>
            <a:r>
              <a:rPr b="0" i="0" lang="en-US" sz="1600" u="none" cap="none" strike="noStrike">
                <a:solidFill>
                  <a:schemeClr val="dk1"/>
                </a:solidFill>
                <a:latin typeface="Courier New"/>
                <a:ea typeface="Courier New"/>
                <a:cs typeface="Courier New"/>
                <a:sym typeface="Courier New"/>
              </a:rPr>
              <a:t>Type[] types = Ingredient.Type.values();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for (Type type : types)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model.addAttribute(type.toString().toLowerCase(), filterByType(ingredients, type));</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@GetMapping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public String showDesignForm(Model model)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model.addAttribute(”taco", new Taco());</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return "design";</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private List&lt;Ingredient&gt; filterByType(List&lt;Ingredient&gt; ingredients, Type type)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List&lt;Ingredient&gt; ingrList = new ArrayList&lt;Ingredient&gt;();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for (Ingredient ingredient: ingredients)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if (ingredient.getType().equals(type)) ingrList.add(ingredient);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return ingrList;</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19" name="Google Shape;319;p31"/>
          <p:cNvSpPr txBox="1"/>
          <p:nvPr/>
        </p:nvSpPr>
        <p:spPr>
          <a:xfrm>
            <a:off x="685800" y="304800"/>
            <a:ext cx="40560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DesignTacoController</a:t>
            </a:r>
            <a:endParaRPr b="1" sz="2400">
              <a:solidFill>
                <a:schemeClr val="accent2"/>
              </a:solidFill>
              <a:latin typeface="Arial"/>
              <a:ea typeface="Arial"/>
              <a:cs typeface="Arial"/>
              <a:sym typeface="Arial"/>
            </a:endParaRPr>
          </a:p>
        </p:txBody>
      </p:sp>
      <p:sp>
        <p:nvSpPr>
          <p:cNvPr id="320" name="Google Shape;320;p31"/>
          <p:cNvSpPr txBox="1"/>
          <p:nvPr/>
        </p:nvSpPr>
        <p:spPr>
          <a:xfrm>
            <a:off x="676275" y="914400"/>
            <a:ext cx="7924800" cy="527426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@Controller:</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Đánh dấu lớp Controller, sẽ được tìm với component scan</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@RequestMapping:</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Ấn định đường dẫn cho các request mà lớp sẽ xử lý</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@GetMapping:</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Đánh dấu phương thức sẽ xử lý các GET request (có thể dùng @RequestMapping (method=RequestMethod.GET)</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Các request sử dụng method khác sẽ được đánh dấu bằng @PostMapping, @PutMapping ...</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Nếu muốn ấn định đường dẫn phụ thì bổ sung thêm cho phương thức (nếu không ấn định thì chính là đường dẫn của lớp)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26" name="Google Shape;326;p32"/>
          <p:cNvSpPr txBox="1"/>
          <p:nvPr/>
        </p:nvSpPr>
        <p:spPr>
          <a:xfrm>
            <a:off x="685800" y="304800"/>
            <a:ext cx="40560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DesignTacoController</a:t>
            </a:r>
            <a:endParaRPr b="1" sz="2400">
              <a:solidFill>
                <a:schemeClr val="accent2"/>
              </a:solidFill>
              <a:latin typeface="Arial"/>
              <a:ea typeface="Arial"/>
              <a:cs typeface="Arial"/>
              <a:sym typeface="Arial"/>
            </a:endParaRPr>
          </a:p>
        </p:txBody>
      </p:sp>
      <p:sp>
        <p:nvSpPr>
          <p:cNvPr id="327" name="Google Shape;327;p32"/>
          <p:cNvSpPr txBox="1"/>
          <p:nvPr/>
        </p:nvSpPr>
        <p:spPr>
          <a:xfrm>
            <a:off x="676275" y="914400"/>
            <a:ext cx="7924800" cy="421859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Phương thức showDesignForm():</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Sẽ được gọi khi có Get Request gửi đến</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Danh sách các thành phần được lọc theo loại</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Danh sách theo loại này sau đó được thêm vào như 1 thuộc tính (attribute) của đối tượng Model.</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Model là đối tượng chuyển giao dữ liệu giữa controller và view</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Phía view sẽ có thể quét và lấy đối tượng đã được thêm vào như thuộc tính của Model</a:t>
            </a:r>
            <a:endParaRPr/>
          </a:p>
          <a:p>
            <a:pPr indent="-342900" lvl="1" marL="800100" marR="0" rtl="0" algn="l">
              <a:lnSpc>
                <a:spcPct val="12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Phương thức trả về kết quả là tên của view sẽ tiếp nhập dữ liệu từ model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33" name="Google Shape;333;p33"/>
          <p:cNvSpPr txBox="1"/>
          <p:nvPr/>
        </p:nvSpPr>
        <p:spPr>
          <a:xfrm>
            <a:off x="685800" y="304800"/>
            <a:ext cx="35829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Trang view design.html</a:t>
            </a:r>
            <a:endParaRPr b="1" sz="2400">
              <a:solidFill>
                <a:schemeClr val="accent2"/>
              </a:solidFill>
              <a:latin typeface="Arial"/>
              <a:ea typeface="Arial"/>
              <a:cs typeface="Arial"/>
              <a:sym typeface="Arial"/>
            </a:endParaRPr>
          </a:p>
        </p:txBody>
      </p:sp>
      <p:sp>
        <p:nvSpPr>
          <p:cNvPr id="334" name="Google Shape;334;p33"/>
          <p:cNvSpPr txBox="1"/>
          <p:nvPr/>
        </p:nvSpPr>
        <p:spPr>
          <a:xfrm>
            <a:off x="228600" y="721784"/>
            <a:ext cx="8686800" cy="636481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Click chuột phải template, chọn New -&gt; File. Đặt tên là design.html:</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&lt;!DOCTYPE html&gt;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&lt;html xmlns="http://www.w3.org/1999/xhtml"</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xmlns:th="http://www.thymeleaf.org"&gt;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&lt;head&gt;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&lt;title&gt;Taco Cloud&lt;/title&gt;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&lt;link rel="stylesheet" th:href="@{/styles.css}"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&lt;/head&gt;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&lt;body&gt;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&lt;h1&gt;Design your taco!&lt;/h1&gt;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&lt;img th:src="@{/images/TacoCloud.png}"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&lt;form method="POST" th:object="${taco}"&gt;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class="grid"&gt;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class="ingredient-group" id="wraps"&gt;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&lt;h3&gt;Designate your wrap:&lt;/h3&gt;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th:each="ingredient : ${wrap}"&gt;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name="ingredients" type="checkbox"</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th:value="${ingredient.id}" /&gt; &lt;span th:text="${ingredient.name}"&gt; INGREDIENT&lt;/span&gt;&lt;br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40" name="Google Shape;340;p34"/>
          <p:cNvSpPr txBox="1"/>
          <p:nvPr/>
        </p:nvSpPr>
        <p:spPr>
          <a:xfrm>
            <a:off x="685800" y="304800"/>
            <a:ext cx="44256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Trang view design.html (tiếp)</a:t>
            </a:r>
            <a:endParaRPr b="1" sz="2400">
              <a:solidFill>
                <a:schemeClr val="accent2"/>
              </a:solidFill>
              <a:latin typeface="Arial"/>
              <a:ea typeface="Arial"/>
              <a:cs typeface="Arial"/>
              <a:sym typeface="Arial"/>
            </a:endParaRPr>
          </a:p>
        </p:txBody>
      </p:sp>
      <p:sp>
        <p:nvSpPr>
          <p:cNvPr id="341" name="Google Shape;341;p34"/>
          <p:cNvSpPr txBox="1"/>
          <p:nvPr/>
        </p:nvSpPr>
        <p:spPr>
          <a:xfrm>
            <a:off x="228600" y="721784"/>
            <a:ext cx="8686800" cy="603139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&lt;div class="ingredient-group" id="proteins"&gt;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&lt;h3&gt;Pick your protein:&lt;/h3&gt;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th:each="ingredient : ${protein}"&gt;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name="ingredients" type="checkbox"</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th:value="${ingredient.id}" /&gt; &lt;span th:text="${ingredient.name}"&gt;INGREDIENT&lt;/span&gt;&lt;br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class="ingredient-group" id="cheeses"&gt;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&lt;h3&gt;Choose your cheese:&lt;/h3&gt;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th:each="ingredient : ${cheese}"&gt;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name="ingredients" type="checkbox"</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th:value="${ingredient.id}" /&gt; &lt;span</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th:text="${ingredient.name}"&gt;INGREDIENT&lt;/span&gt;&lt;br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class="ingredient-group" id="veggies"&gt;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&lt;h3&gt;Determine your veggies:&lt;/h3&gt;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th:each="ingredient : ${veggies}"&gt;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name="ingredients" type="checkbox"</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th:value="${ingredient.id}" /&gt; &lt;span th:text="${ingredient.name}"&gt;INGREDIENT&lt;/span&gt;&lt;br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47" name="Google Shape;347;p35"/>
          <p:cNvSpPr txBox="1"/>
          <p:nvPr/>
        </p:nvSpPr>
        <p:spPr>
          <a:xfrm>
            <a:off x="685800" y="304800"/>
            <a:ext cx="44256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Trang view design.html (tiếp)</a:t>
            </a:r>
            <a:endParaRPr b="1" sz="2400">
              <a:solidFill>
                <a:schemeClr val="accent2"/>
              </a:solidFill>
              <a:latin typeface="Arial"/>
              <a:ea typeface="Arial"/>
              <a:cs typeface="Arial"/>
              <a:sym typeface="Arial"/>
            </a:endParaRPr>
          </a:p>
        </p:txBody>
      </p:sp>
      <p:sp>
        <p:nvSpPr>
          <p:cNvPr id="348" name="Google Shape;348;p35"/>
          <p:cNvSpPr txBox="1"/>
          <p:nvPr/>
        </p:nvSpPr>
        <p:spPr>
          <a:xfrm>
            <a:off x="228600" y="823868"/>
            <a:ext cx="8686800" cy="4738732"/>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class="ingredient-group" id="sauces"&gt;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&lt;h3&gt;Select your sauce:&lt;/h3&gt;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 th:each="ingredient : ${sauce}"&gt;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name="ingredients" type="checkbox"</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th:value="${ingredient.id}" /&gt; &lt;span th:text="${ingredient.name}"&gt;INGREDIENT&lt;/span&gt;&lt;br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&lt;h3&gt;Name your taco creation:&lt;/h3&gt;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&lt;input type="text" th:field="*{name}" /&gt; &lt;br /&gt;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&lt;button&gt;Submit your taco&lt;/button&gt;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&lt;/div&gt;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 &lt;/form&gt;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&lt;/body&gt;</a:t>
            </a:r>
            <a:endParaRPr/>
          </a:p>
          <a:p>
            <a:pPr indent="0" lvl="0" marL="0" marR="0" rtl="0" algn="l">
              <a:lnSpc>
                <a:spcPct val="120000"/>
              </a:lnSpc>
              <a:spcBef>
                <a:spcPts val="0"/>
              </a:spcBef>
              <a:spcAft>
                <a:spcPts val="0"/>
              </a:spcAft>
              <a:buNone/>
            </a:pPr>
            <a:r>
              <a:rPr lang="en-US" sz="1400">
                <a:solidFill>
                  <a:schemeClr val="dk1"/>
                </a:solidFill>
                <a:latin typeface="Courier New"/>
                <a:ea typeface="Courier New"/>
                <a:cs typeface="Courier New"/>
                <a:sym typeface="Courier New"/>
              </a:rPr>
              <a:t>&lt;/html&gt;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54" name="Google Shape;354;p36"/>
          <p:cNvSpPr txBox="1"/>
          <p:nvPr/>
        </p:nvSpPr>
        <p:spPr>
          <a:xfrm>
            <a:off x="685800" y="304800"/>
            <a:ext cx="21117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Spring Views</a:t>
            </a:r>
            <a:endParaRPr b="1" sz="2400">
              <a:solidFill>
                <a:schemeClr val="accent2"/>
              </a:solidFill>
              <a:latin typeface="Arial"/>
              <a:ea typeface="Arial"/>
              <a:cs typeface="Arial"/>
              <a:sym typeface="Arial"/>
            </a:endParaRPr>
          </a:p>
        </p:txBody>
      </p:sp>
      <p:sp>
        <p:nvSpPr>
          <p:cNvPr id="355" name="Google Shape;355;p36"/>
          <p:cNvSpPr txBox="1"/>
          <p:nvPr/>
        </p:nvSpPr>
        <p:spPr>
          <a:xfrm>
            <a:off x="533400" y="1066800"/>
            <a:ext cx="8229599" cy="481978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Spring hỗ trợ 1 số loại thư viện view: JSP, Thymeleaf ...</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Thymeleaf chỉ sử dụng file HTML để hiển thị dữ liệu nên có nhiều ưu điểm hơn so với các view cũ như JSP</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Thymeleaf có thể truy cập tới các đối tượng dữ liệu đã được lưu vào trong request dưới dạng các attribute</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Thymeleaf truy cập và hiển thị dữ liệu từ các đối tượng Java beans tương tự cú pháp của Expression Language</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Khi Spring chuyển các request từ controller sang view sẽ copy các attribute từ lớp Model sang request để các view trong Thymeleaf có thể truy cập được</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61" name="Google Shape;361;p37"/>
          <p:cNvSpPr txBox="1"/>
          <p:nvPr/>
        </p:nvSpPr>
        <p:spPr>
          <a:xfrm>
            <a:off x="685800" y="304800"/>
            <a:ext cx="17107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Thymeleaf</a:t>
            </a:r>
            <a:endParaRPr b="1" sz="2400">
              <a:solidFill>
                <a:schemeClr val="accent2"/>
              </a:solidFill>
              <a:latin typeface="Arial"/>
              <a:ea typeface="Arial"/>
              <a:cs typeface="Arial"/>
              <a:sym typeface="Arial"/>
            </a:endParaRPr>
          </a:p>
        </p:txBody>
      </p:sp>
      <p:sp>
        <p:nvSpPr>
          <p:cNvPr id="362" name="Google Shape;362;p37"/>
          <p:cNvSpPr txBox="1"/>
          <p:nvPr/>
        </p:nvSpPr>
        <p:spPr>
          <a:xfrm>
            <a:off x="676275" y="914400"/>
            <a:ext cx="7924800" cy="562923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Thymeleaf templates bao gồm các thẻ HTML cùng với một số thuộc tính bổ sung giúp hiển thị dữ liệu từ các Java beans được lưu trong attribute của request.</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Thuộc tính bổ sung của Thymeleaf bắt đầu bằng chứ </a:t>
            </a:r>
            <a:r>
              <a:rPr lang="en-US" sz="2400">
                <a:solidFill>
                  <a:schemeClr val="dk1"/>
                </a:solidFill>
                <a:latin typeface="Courier New"/>
                <a:ea typeface="Courier New"/>
                <a:cs typeface="Courier New"/>
                <a:sym typeface="Courier New"/>
              </a:rPr>
              <a:t>th:</a:t>
            </a:r>
            <a:r>
              <a:rPr lang="en-US" sz="2400">
                <a:solidFill>
                  <a:schemeClr val="dk1"/>
                </a:solidFill>
                <a:latin typeface="Arial"/>
                <a:ea typeface="Arial"/>
                <a:cs typeface="Arial"/>
                <a:sym typeface="Arial"/>
              </a:rPr>
              <a:t> . Với cách tiếp cận này, Thymeleaf chỉ sử dụng các thẻ HTML cơ bản chứ không cần bổ sung thẻ mới như JSP.</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VD: Để truyền dữ liệu từ biến </a:t>
            </a:r>
            <a:r>
              <a:rPr lang="en-US" sz="2400">
                <a:solidFill>
                  <a:schemeClr val="dk1"/>
                </a:solidFill>
                <a:latin typeface="Courier New"/>
                <a:ea typeface="Courier New"/>
                <a:cs typeface="Courier New"/>
                <a:sym typeface="Courier New"/>
              </a:rPr>
              <a:t>message</a:t>
            </a:r>
            <a:r>
              <a:rPr lang="en-US" sz="2400">
                <a:solidFill>
                  <a:schemeClr val="dk1"/>
                </a:solidFill>
                <a:latin typeface="Arial"/>
                <a:ea typeface="Arial"/>
                <a:cs typeface="Arial"/>
                <a:sym typeface="Arial"/>
              </a:rPr>
              <a:t> (chẳng hạn la một attribute “message” được lưu trong request) ra thẻ &lt;p&gt; của HTML, thẻ sau sẽ được thêm vào Thymeleaf template:</a:t>
            </a:r>
            <a:endParaRPr/>
          </a:p>
          <a:p>
            <a:pPr indent="0" lvl="0" marL="0" marR="0" rtl="0" algn="l">
              <a:lnSpc>
                <a:spcPct val="120000"/>
              </a:lnSpc>
              <a:spcBef>
                <a:spcPts val="600"/>
              </a:spcBef>
              <a:spcAft>
                <a:spcPts val="0"/>
              </a:spcAft>
              <a:buNone/>
            </a:pPr>
            <a:r>
              <a:rPr lang="en-US" sz="2000">
                <a:solidFill>
                  <a:schemeClr val="dk1"/>
                </a:solidFill>
                <a:latin typeface="Times New Roman"/>
                <a:ea typeface="Times New Roman"/>
                <a:cs typeface="Times New Roman"/>
                <a:sym typeface="Times New Roman"/>
              </a:rPr>
              <a:t>	</a:t>
            </a:r>
            <a:r>
              <a:rPr lang="en-US" sz="2000">
                <a:solidFill>
                  <a:schemeClr val="dk1"/>
                </a:solidFill>
                <a:latin typeface="Courier New"/>
                <a:ea typeface="Courier New"/>
                <a:cs typeface="Courier New"/>
                <a:sym typeface="Courier New"/>
              </a:rPr>
              <a:t>&lt;p th:text="${message}”&gt;&lt;/p&gt;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68" name="Google Shape;368;p38"/>
          <p:cNvSpPr txBox="1"/>
          <p:nvPr/>
        </p:nvSpPr>
        <p:spPr>
          <a:xfrm>
            <a:off x="685800" y="304800"/>
            <a:ext cx="17107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Thymeleaf</a:t>
            </a:r>
            <a:endParaRPr b="1" sz="2400">
              <a:solidFill>
                <a:schemeClr val="accent2"/>
              </a:solidFill>
              <a:latin typeface="Arial"/>
              <a:ea typeface="Arial"/>
              <a:cs typeface="Arial"/>
              <a:sym typeface="Arial"/>
            </a:endParaRPr>
          </a:p>
        </p:txBody>
      </p:sp>
      <p:sp>
        <p:nvSpPr>
          <p:cNvPr id="369" name="Google Shape;369;p38"/>
          <p:cNvSpPr txBox="1"/>
          <p:nvPr/>
        </p:nvSpPr>
        <p:spPr>
          <a:xfrm>
            <a:off x="676275" y="1124563"/>
            <a:ext cx="7924800" cy="466897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VD: Để truyền dữ liệu từ biến </a:t>
            </a:r>
            <a:r>
              <a:rPr lang="en-US" sz="2400">
                <a:solidFill>
                  <a:schemeClr val="dk1"/>
                </a:solidFill>
                <a:latin typeface="Courier New"/>
                <a:ea typeface="Courier New"/>
                <a:cs typeface="Courier New"/>
                <a:sym typeface="Courier New"/>
              </a:rPr>
              <a:t>message</a:t>
            </a:r>
            <a:r>
              <a:rPr lang="en-US" sz="2400">
                <a:solidFill>
                  <a:schemeClr val="dk1"/>
                </a:solidFill>
                <a:latin typeface="Arial"/>
                <a:ea typeface="Arial"/>
                <a:cs typeface="Arial"/>
                <a:sym typeface="Arial"/>
              </a:rPr>
              <a:t> (chẳng hạn la một attribute “message” được lưu trong request) ra thẻ &lt;p&gt; của HTML, thẻ sau sẽ được thêm vào Thymeleaf template:</a:t>
            </a:r>
            <a:endParaRPr/>
          </a:p>
          <a:p>
            <a:pPr indent="0" lvl="0" marL="0" marR="0" rtl="0" algn="l">
              <a:lnSpc>
                <a:spcPct val="120000"/>
              </a:lnSpc>
              <a:spcBef>
                <a:spcPts val="600"/>
              </a:spcBef>
              <a:spcAft>
                <a:spcPts val="0"/>
              </a:spcAft>
              <a:buNone/>
            </a:pPr>
            <a:r>
              <a:rPr lang="en-US" sz="2000">
                <a:solidFill>
                  <a:schemeClr val="dk1"/>
                </a:solidFill>
                <a:latin typeface="Times New Roman"/>
                <a:ea typeface="Times New Roman"/>
                <a:cs typeface="Times New Roman"/>
                <a:sym typeface="Times New Roman"/>
              </a:rPr>
              <a:t>     	</a:t>
            </a:r>
            <a:r>
              <a:rPr lang="en-US" sz="2000">
                <a:solidFill>
                  <a:schemeClr val="dk1"/>
                </a:solidFill>
                <a:latin typeface="Courier New"/>
                <a:ea typeface="Courier New"/>
                <a:cs typeface="Courier New"/>
                <a:sym typeface="Courier New"/>
              </a:rPr>
              <a:t>&lt;p th:text="${message}”&gt;&lt;/p&gt; </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Khi template được chuyển đổi sang HTML, phần thân của thẻ &lt;p&gt; sẽ được thay thế bởi giá trị của thuộc tính “message” trong request và thuộc tính th: không còn nữa.</a:t>
            </a:r>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	&lt;p&gt;This is a message&lt;/p&gt;</a:t>
            </a:r>
            <a:endParaRPr sz="2000">
              <a:solidFill>
                <a:schemeClr val="dk1"/>
              </a:solidFill>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75" name="Google Shape;375;p39"/>
          <p:cNvSpPr txBox="1"/>
          <p:nvPr/>
        </p:nvSpPr>
        <p:spPr>
          <a:xfrm>
            <a:off x="685800" y="304800"/>
            <a:ext cx="34517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Thymeleaf Expression</a:t>
            </a:r>
            <a:endParaRPr b="1" sz="2400">
              <a:solidFill>
                <a:schemeClr val="accent2"/>
              </a:solidFill>
              <a:latin typeface="Arial"/>
              <a:ea typeface="Arial"/>
              <a:cs typeface="Arial"/>
              <a:sym typeface="Arial"/>
            </a:endParaRPr>
          </a:p>
        </p:txBody>
      </p:sp>
      <p:sp>
        <p:nvSpPr>
          <p:cNvPr id="376" name="Google Shape;376;p39"/>
          <p:cNvSpPr txBox="1"/>
          <p:nvPr/>
        </p:nvSpPr>
        <p:spPr>
          <a:xfrm>
            <a:off x="685800" y="990600"/>
            <a:ext cx="7924800" cy="526297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Để lấy các thông tin từ trong Model, sử dụng Thymeleaf Expression:</a:t>
            </a:r>
            <a:endParaRPr/>
          </a:p>
          <a:p>
            <a:pPr indent="-457200" lvl="0" marL="812800" marR="0" rtl="0" algn="l">
              <a:lnSpc>
                <a:spcPct val="120000"/>
              </a:lnSpc>
              <a:spcBef>
                <a:spcPts val="600"/>
              </a:spcBef>
              <a:spcAft>
                <a:spcPts val="0"/>
              </a:spcAft>
              <a:buClr>
                <a:schemeClr val="dk1"/>
              </a:buClr>
              <a:buSzPts val="2000"/>
              <a:buFont typeface="Arial"/>
              <a:buChar char="•"/>
            </a:pPr>
            <a:r>
              <a:rPr lang="en-US" sz="2000">
                <a:solidFill>
                  <a:schemeClr val="dk1"/>
                </a:solidFill>
                <a:latin typeface="Courier New"/>
                <a:ea typeface="Courier New"/>
                <a:cs typeface="Courier New"/>
                <a:sym typeface="Courier New"/>
              </a:rPr>
              <a:t>${…}: </a:t>
            </a:r>
            <a:r>
              <a:rPr lang="en-US" sz="2400">
                <a:solidFill>
                  <a:schemeClr val="dk1"/>
                </a:solidFill>
                <a:latin typeface="Arial"/>
                <a:ea typeface="Arial"/>
                <a:cs typeface="Arial"/>
                <a:sym typeface="Arial"/>
              </a:rPr>
              <a:t>Giá trị của 1 biến</a:t>
            </a:r>
            <a:endParaRPr/>
          </a:p>
          <a:p>
            <a:pPr indent="0" lvl="0" marL="0" marR="0" rtl="0" algn="l">
              <a:lnSpc>
                <a:spcPct val="120000"/>
              </a:lnSpc>
              <a:spcBef>
                <a:spcPts val="0"/>
              </a:spcBef>
              <a:spcAft>
                <a:spcPts val="0"/>
              </a:spcAft>
              <a:buNone/>
            </a:pPr>
            <a:r>
              <a:rPr lang="en-US" sz="2400">
                <a:solidFill>
                  <a:schemeClr val="dk1"/>
                </a:solidFill>
                <a:latin typeface="Arial"/>
                <a:ea typeface="Arial"/>
                <a:cs typeface="Arial"/>
                <a:sym typeface="Arial"/>
              </a:rPr>
              <a:t>	</a:t>
            </a:r>
            <a:r>
              <a:rPr lang="en-US" sz="1600">
                <a:solidFill>
                  <a:schemeClr val="dk1"/>
                </a:solidFill>
                <a:latin typeface="Courier New"/>
                <a:ea typeface="Courier New"/>
                <a:cs typeface="Courier New"/>
                <a:sym typeface="Courier New"/>
              </a:rPr>
              <a:t>model.addAttribute(“user”,user);</a:t>
            </a:r>
            <a:endParaRPr/>
          </a:p>
          <a:p>
            <a:pPr indent="0" lvl="0" marL="0" marR="0" rtl="0" algn="l">
              <a:lnSpc>
                <a:spcPct val="120000"/>
              </a:lnSpc>
              <a:spcBef>
                <a:spcPts val="0"/>
              </a:spcBef>
              <a:spcAft>
                <a:spcPts val="0"/>
              </a:spcAft>
              <a:buNone/>
            </a:pPr>
            <a:r>
              <a:rPr lang="en-US" sz="1600">
                <a:solidFill>
                  <a:schemeClr val="dk1"/>
                </a:solidFill>
                <a:latin typeface="Courier New"/>
                <a:ea typeface="Courier New"/>
                <a:cs typeface="Courier New"/>
                <a:sym typeface="Courier New"/>
              </a:rPr>
              <a:t>	&lt;p&gt;&lt;span th:text="${user.firstName}"&gt;&lt;/span&gt;.&lt;/p&gt;</a:t>
            </a:r>
            <a:endParaRPr sz="1600">
              <a:solidFill>
                <a:schemeClr val="dk1"/>
              </a:solidFill>
              <a:latin typeface="Courier New"/>
              <a:ea typeface="Courier New"/>
              <a:cs typeface="Courier New"/>
              <a:sym typeface="Courier New"/>
            </a:endParaRPr>
          </a:p>
          <a:p>
            <a:pPr indent="-12700" lvl="0" marL="355600" marR="0" rtl="0" algn="l">
              <a:lnSpc>
                <a:spcPct val="120000"/>
              </a:lnSpc>
              <a:spcBef>
                <a:spcPts val="600"/>
              </a:spcBef>
              <a:spcAft>
                <a:spcPts val="0"/>
              </a:spcAft>
              <a:buClr>
                <a:schemeClr val="dk1"/>
              </a:buClr>
              <a:buSzPts val="2000"/>
              <a:buFont typeface="Arial"/>
              <a:buChar char="•"/>
            </a:pPr>
            <a:r>
              <a:rPr lang="en-US" sz="2000">
                <a:solidFill>
                  <a:schemeClr val="dk1"/>
                </a:solidFill>
                <a:latin typeface="Courier New"/>
                <a:ea typeface="Courier New"/>
                <a:cs typeface="Courier New"/>
                <a:sym typeface="Courier New"/>
              </a:rPr>
              <a:t>	*{…}: </a:t>
            </a:r>
            <a:r>
              <a:rPr lang="en-US" sz="2400">
                <a:solidFill>
                  <a:schemeClr val="dk1"/>
                </a:solidFill>
                <a:latin typeface="Arial"/>
                <a:ea typeface="Arial"/>
                <a:cs typeface="Arial"/>
                <a:sym typeface="Arial"/>
              </a:rPr>
              <a:t>Giá trị của 1 biến trong phạm vi lựa chọn 		(từ đối tượng th:object)</a:t>
            </a:r>
            <a:endParaRPr/>
          </a:p>
          <a:p>
            <a:pPr indent="0" lvl="0" marL="0" marR="0" rtl="0" algn="l">
              <a:lnSpc>
                <a:spcPct val="120000"/>
              </a:lnSpc>
              <a:spcBef>
                <a:spcPts val="0"/>
              </a:spcBef>
              <a:spcAft>
                <a:spcPts val="0"/>
              </a:spcAft>
              <a:buNone/>
            </a:pPr>
            <a:r>
              <a:rPr lang="en-US" sz="2400">
                <a:solidFill>
                  <a:schemeClr val="dk1"/>
                </a:solidFill>
                <a:latin typeface="Arial"/>
                <a:ea typeface="Arial"/>
                <a:cs typeface="Arial"/>
                <a:sym typeface="Arial"/>
              </a:rPr>
              <a:t>	</a:t>
            </a:r>
            <a:r>
              <a:rPr lang="en-US" sz="1600">
                <a:solidFill>
                  <a:schemeClr val="dk1"/>
                </a:solidFill>
                <a:latin typeface="Courier New"/>
                <a:ea typeface="Courier New"/>
                <a:cs typeface="Courier New"/>
                <a:sym typeface="Courier New"/>
              </a:rPr>
              <a:t>&lt;div th:object="${session.user}"&gt;</a:t>
            </a:r>
            <a:endParaRPr/>
          </a:p>
          <a:p>
            <a:pPr indent="0" lvl="0" marL="0" marR="0" rtl="0" algn="l">
              <a:lnSpc>
                <a:spcPct val="120000"/>
              </a:lnSpc>
              <a:spcBef>
                <a:spcPts val="0"/>
              </a:spcBef>
              <a:spcAft>
                <a:spcPts val="0"/>
              </a:spcAft>
              <a:buNone/>
            </a:pPr>
            <a:r>
              <a:rPr lang="en-US" sz="1600">
                <a:solidFill>
                  <a:schemeClr val="dk1"/>
                </a:solidFill>
                <a:latin typeface="Courier New"/>
                <a:ea typeface="Courier New"/>
                <a:cs typeface="Courier New"/>
                <a:sym typeface="Courier New"/>
              </a:rPr>
              <a:t>	    &lt;p&gt;Name: &lt;span th:text="*{firstName}"&gt;&lt;/span&gt;.&lt;/p&gt;</a:t>
            </a:r>
            <a:endParaRPr sz="1600">
              <a:solidFill>
                <a:schemeClr val="dk1"/>
              </a:solidFill>
              <a:latin typeface="Courier New"/>
              <a:ea typeface="Courier New"/>
              <a:cs typeface="Courier New"/>
              <a:sym typeface="Courier New"/>
            </a:endParaRPr>
          </a:p>
          <a:p>
            <a:pPr indent="0" lvl="0" marL="0" marR="0" rtl="0" algn="l">
              <a:lnSpc>
                <a:spcPct val="120000"/>
              </a:lnSpc>
              <a:spcBef>
                <a:spcPts val="0"/>
              </a:spcBef>
              <a:spcAft>
                <a:spcPts val="0"/>
              </a:spcAft>
              <a:buNone/>
            </a:pPr>
            <a:r>
              <a:rPr lang="en-US" sz="1600">
                <a:solidFill>
                  <a:schemeClr val="dk1"/>
                </a:solidFill>
                <a:latin typeface="Courier New"/>
                <a:ea typeface="Courier New"/>
                <a:cs typeface="Courier New"/>
                <a:sym typeface="Courier New"/>
              </a:rPr>
              <a:t>	&lt;/div&gt;</a:t>
            </a:r>
            <a:endParaRPr/>
          </a:p>
          <a:p>
            <a:pPr indent="-12700" lvl="0" marL="355600" marR="0" rtl="0" algn="l">
              <a:lnSpc>
                <a:spcPct val="120000"/>
              </a:lnSpc>
              <a:spcBef>
                <a:spcPts val="600"/>
              </a:spcBef>
              <a:spcAft>
                <a:spcPts val="0"/>
              </a:spcAft>
              <a:buClr>
                <a:schemeClr val="dk1"/>
              </a:buClr>
              <a:buSzPts val="2000"/>
              <a:buFont typeface="Arial"/>
              <a:buChar char="•"/>
            </a:pPr>
            <a:r>
              <a:rPr lang="en-US" sz="2000">
                <a:solidFill>
                  <a:schemeClr val="dk1"/>
                </a:solidFill>
                <a:latin typeface="Courier New"/>
                <a:ea typeface="Courier New"/>
                <a:cs typeface="Courier New"/>
                <a:sym typeface="Courier New"/>
              </a:rPr>
              <a:t>	#{…}: </a:t>
            </a:r>
            <a:r>
              <a:rPr lang="en-US" sz="2400">
                <a:solidFill>
                  <a:schemeClr val="dk1"/>
                </a:solidFill>
                <a:latin typeface="Arial"/>
                <a:ea typeface="Arial"/>
                <a:cs typeface="Arial"/>
                <a:sym typeface="Arial"/>
              </a:rPr>
              <a:t>Lấy trong file .properties</a:t>
            </a:r>
            <a:endParaRPr/>
          </a:p>
          <a:p>
            <a:pPr indent="-12700" lvl="0" marL="355600" marR="0" rtl="0" algn="l">
              <a:lnSpc>
                <a:spcPct val="120000"/>
              </a:lnSpc>
              <a:spcBef>
                <a:spcPts val="600"/>
              </a:spcBef>
              <a:spcAft>
                <a:spcPts val="0"/>
              </a:spcAft>
              <a:buClr>
                <a:schemeClr val="dk1"/>
              </a:buClr>
              <a:buSzPts val="2000"/>
              <a:buFont typeface="Arial"/>
              <a:buChar char="•"/>
            </a:pPr>
            <a:r>
              <a:rPr lang="en-US" sz="2000">
                <a:solidFill>
                  <a:schemeClr val="dk1"/>
                </a:solidFill>
                <a:latin typeface="Courier New"/>
                <a:ea typeface="Courier New"/>
                <a:cs typeface="Courier New"/>
                <a:sym typeface="Courier New"/>
              </a:rPr>
              <a:t>	@{…}: </a:t>
            </a:r>
            <a:r>
              <a:rPr lang="en-US" sz="2400">
                <a:solidFill>
                  <a:schemeClr val="dk1"/>
                </a:solidFill>
                <a:latin typeface="Arial"/>
                <a:ea typeface="Arial"/>
                <a:cs typeface="Arial"/>
                <a:sym typeface="Arial"/>
              </a:rPr>
              <a:t>URL Expression</a:t>
            </a:r>
            <a:endParaRPr sz="2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82" name="Google Shape;382;p40"/>
          <p:cNvSpPr txBox="1"/>
          <p:nvPr/>
        </p:nvSpPr>
        <p:spPr>
          <a:xfrm>
            <a:off x="685800" y="304800"/>
            <a:ext cx="171072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Thymeleaf</a:t>
            </a:r>
            <a:endParaRPr b="1" sz="2400">
              <a:solidFill>
                <a:schemeClr val="accent2"/>
              </a:solidFill>
              <a:latin typeface="Arial"/>
              <a:ea typeface="Arial"/>
              <a:cs typeface="Arial"/>
              <a:sym typeface="Arial"/>
            </a:endParaRPr>
          </a:p>
        </p:txBody>
      </p:sp>
      <p:sp>
        <p:nvSpPr>
          <p:cNvPr id="383" name="Google Shape;383;p40"/>
          <p:cNvSpPr txBox="1"/>
          <p:nvPr/>
        </p:nvSpPr>
        <p:spPr>
          <a:xfrm>
            <a:off x="457200" y="914400"/>
            <a:ext cx="8534400" cy="560768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Thymeleaf còn cung cấp thuộc tính th: each của thẻ &lt;div&gt; để duyệt qua 1 tập hợp và hiển thị giá trị các phần tử của tập hợp sang HTML</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VD: Để hiển thị danh sách các thành phần “wrap” sang HTML, dùng đoạn mã sau:</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&lt;h3&gt;Designate your wrap:&lt;/h3&gt;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&lt;div th:each="ingredient : ${wrap}"&gt;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&lt;input name="ingredients" type="checkbox”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th:value=”${ingredient.id}” /&gt;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&lt;span th:text="${ingredient.name}"&gt;INGREDIENT&lt;/span&gt;&lt;br/&gt;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&lt;/div&gt; </a:t>
            </a:r>
            <a:r>
              <a:rPr lang="en-US" sz="1800">
                <a:solidFill>
                  <a:schemeClr val="dk1"/>
                </a:solidFill>
                <a:latin typeface="Courier New"/>
                <a:ea typeface="Courier New"/>
                <a:cs typeface="Courier New"/>
                <a:sym typeface="Courier New"/>
              </a:rPr>
              <a:t> </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Thuộc tính th:each sẽ lặp lại &lt;div&gt; tag trên mỗi thành phần của danh sách wrap và hiển thị ra dạng HTML.</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89" name="Google Shape;389;p41"/>
          <p:cNvSpPr txBox="1"/>
          <p:nvPr/>
        </p:nvSpPr>
        <p:spPr>
          <a:xfrm>
            <a:off x="685800" y="304800"/>
            <a:ext cx="61610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Kết quả giao diện trang chọn thành phần</a:t>
            </a:r>
            <a:endParaRPr b="1" sz="2400">
              <a:solidFill>
                <a:schemeClr val="accent2"/>
              </a:solidFill>
              <a:latin typeface="Arial"/>
              <a:ea typeface="Arial"/>
              <a:cs typeface="Arial"/>
              <a:sym typeface="Arial"/>
            </a:endParaRPr>
          </a:p>
        </p:txBody>
      </p:sp>
      <p:pic>
        <p:nvPicPr>
          <p:cNvPr id="390" name="Google Shape;390;p41"/>
          <p:cNvPicPr preferRelativeResize="0"/>
          <p:nvPr/>
        </p:nvPicPr>
        <p:blipFill rotWithShape="1">
          <a:blip r:embed="rId3">
            <a:alphaModFix/>
          </a:blip>
          <a:srcRect b="0" l="0" r="0" t="0"/>
          <a:stretch/>
        </p:blipFill>
        <p:spPr>
          <a:xfrm>
            <a:off x="1752600" y="933450"/>
            <a:ext cx="5181600" cy="570388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396" name="Google Shape;396;p42"/>
          <p:cNvSpPr txBox="1"/>
          <p:nvPr/>
        </p:nvSpPr>
        <p:spPr>
          <a:xfrm>
            <a:off x="685800" y="304800"/>
            <a:ext cx="42830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Xử lý form chọn thành phần</a:t>
            </a:r>
            <a:endParaRPr b="1" sz="2400">
              <a:solidFill>
                <a:schemeClr val="accent2"/>
              </a:solidFill>
              <a:latin typeface="Arial"/>
              <a:ea typeface="Arial"/>
              <a:cs typeface="Arial"/>
              <a:sym typeface="Arial"/>
            </a:endParaRPr>
          </a:p>
        </p:txBody>
      </p:sp>
      <p:sp>
        <p:nvSpPr>
          <p:cNvPr id="397" name="Google Shape;397;p42"/>
          <p:cNvSpPr txBox="1"/>
          <p:nvPr/>
        </p:nvSpPr>
        <p:spPr>
          <a:xfrm>
            <a:off x="676275" y="914400"/>
            <a:ext cx="7924800" cy="567540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Form:</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Method: POST</a:t>
            </a:r>
            <a:endParaRPr/>
          </a:p>
          <a:p>
            <a:pPr indent="-342900" lvl="1" marL="800100" marR="0" rtl="0" algn="l">
              <a:lnSpc>
                <a:spcPct val="12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Action: Không có</a:t>
            </a:r>
            <a:endParaRPr/>
          </a:p>
          <a:p>
            <a:pPr indent="-342900" lvl="1" marL="800100" marR="0" rtl="0" algn="l">
              <a:lnSpc>
                <a:spcPct val="120000"/>
              </a:lnSpc>
              <a:spcBef>
                <a:spcPts val="600"/>
              </a:spcBef>
              <a:spcAft>
                <a:spcPts val="0"/>
              </a:spcAft>
              <a:buNone/>
            </a:pPr>
            <a:r>
              <a:rPr b="0" i="0" lang="en-US" sz="2000" u="none" cap="none" strike="noStrike">
                <a:solidFill>
                  <a:schemeClr val="dk1"/>
                </a:solidFill>
                <a:latin typeface="Arial"/>
                <a:ea typeface="Arial"/>
                <a:cs typeface="Arial"/>
                <a:sym typeface="Arial"/>
              </a:rPr>
              <a:t>-&gt; Form sẽ được submit tới cùng URL với GET request trước đó</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Viết thêm phương thức xử lý POST request trong TacoDesignController:</a:t>
            </a:r>
            <a:endParaRPr/>
          </a:p>
          <a:p>
            <a:pPr indent="-190500" lvl="0" marL="342900" marR="0" rtl="0" algn="l">
              <a:lnSpc>
                <a:spcPct val="120000"/>
              </a:lnSpc>
              <a:spcBef>
                <a:spcPts val="600"/>
              </a:spcBef>
              <a:spcAft>
                <a:spcPts val="0"/>
              </a:spcAft>
              <a:buClr>
                <a:schemeClr val="dk1"/>
              </a:buClr>
              <a:buSzPts val="2400"/>
              <a:buFont typeface="Times New Roman"/>
              <a:buNone/>
            </a:pPr>
            <a:r>
              <a:t/>
            </a:r>
            <a:endParaRPr sz="2400">
              <a:solidFill>
                <a:schemeClr val="dk1"/>
              </a:solidFill>
              <a:latin typeface="Arial"/>
              <a:ea typeface="Arial"/>
              <a:cs typeface="Arial"/>
              <a:sym typeface="Arial"/>
            </a:endParaRPr>
          </a:p>
          <a:p>
            <a:pPr indent="0" lvl="0" marL="0" marR="0" rtl="0" algn="l">
              <a:lnSpc>
                <a:spcPct val="120000"/>
              </a:lnSpc>
              <a:spcBef>
                <a:spcPts val="0"/>
              </a:spcBef>
              <a:spcAft>
                <a:spcPts val="0"/>
              </a:spcAft>
              <a:buNone/>
            </a:pPr>
            <a:r>
              <a:rPr lang="en-US" sz="1600">
                <a:solidFill>
                  <a:schemeClr val="dk1"/>
                </a:solidFill>
                <a:latin typeface="Courier New"/>
                <a:ea typeface="Courier New"/>
                <a:cs typeface="Courier New"/>
                <a:sym typeface="Courier New"/>
              </a:rPr>
              <a:t>	</a:t>
            </a:r>
            <a:r>
              <a:rPr lang="en-US" sz="1800">
                <a:solidFill>
                  <a:schemeClr val="dk1"/>
                </a:solidFill>
                <a:latin typeface="Courier New"/>
                <a:ea typeface="Courier New"/>
                <a:cs typeface="Courier New"/>
                <a:sym typeface="Courier New"/>
              </a:rPr>
              <a:t>@PostMapping</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public String processDesign(Taco taco) {</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 Save the taco design...</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 We'll do this later</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log.info("Processing design: " + taco);</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return "redirect:/orders/current";</a:t>
            </a:r>
            <a:endParaRPr/>
          </a:p>
          <a:p>
            <a:pPr indent="0" lvl="0" marL="0" marR="0" rtl="0" algn="l">
              <a:lnSpc>
                <a:spcPct val="120000"/>
              </a:lnSpc>
              <a:spcBef>
                <a:spcPts val="0"/>
              </a:spcBef>
              <a:spcAft>
                <a:spcPts val="0"/>
              </a:spcAft>
              <a:buNone/>
            </a:pPr>
            <a:r>
              <a:rPr lang="en-US" sz="1800">
                <a:solidFill>
                  <a:schemeClr val="dk1"/>
                </a:solidFill>
                <a:latin typeface="Courier New"/>
                <a:ea typeface="Courier New"/>
                <a:cs typeface="Courier New"/>
                <a:sym typeface="Courier New"/>
              </a:rPr>
              <a:t>	}</a:t>
            </a:r>
            <a:endParaRPr sz="1800">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03" name="Google Shape;403;p43"/>
          <p:cNvSpPr txBox="1"/>
          <p:nvPr/>
        </p:nvSpPr>
        <p:spPr>
          <a:xfrm>
            <a:off x="685800" y="304800"/>
            <a:ext cx="42830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Xử lý form chọn thành phần</a:t>
            </a:r>
            <a:endParaRPr b="1" sz="2400">
              <a:solidFill>
                <a:schemeClr val="accent2"/>
              </a:solidFill>
              <a:latin typeface="Arial"/>
              <a:ea typeface="Arial"/>
              <a:cs typeface="Arial"/>
              <a:sym typeface="Arial"/>
            </a:endParaRPr>
          </a:p>
        </p:txBody>
      </p:sp>
      <p:sp>
        <p:nvSpPr>
          <p:cNvPr id="404" name="Google Shape;404;p43"/>
          <p:cNvSpPr txBox="1"/>
          <p:nvPr/>
        </p:nvSpPr>
        <p:spPr>
          <a:xfrm>
            <a:off x="533400" y="914400"/>
            <a:ext cx="8229599" cy="555228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Khi form được submit, các trường của form sẽ được gán cho các thuộc tính của đối tượng taco. Đối tượng này sau đó sẽ được chuyển thành tham số của phương thức processDesign()</a:t>
            </a:r>
            <a:r>
              <a:rPr lang="en-US" sz="2000">
                <a:solidFill>
                  <a:schemeClr val="dk1"/>
                </a:solidFill>
                <a:latin typeface="Arial"/>
                <a:ea typeface="Arial"/>
                <a:cs typeface="Arial"/>
                <a:sym typeface="Arial"/>
              </a:rPr>
              <a:t> </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Hiện tại phương thức processDesign() chưa thực hiện xử lý gì trên tham số đối tượng taco (phần tiếp theo sẽ tiến hành xử lý lưu thông tin đối tượng taco vào CSDL)</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Phương thức processDesign() cũng trả về 1 giá trị String là tên của view sẽ được chuyển đến. Tuy nhiên, giá trị trả về này có tiền tố redirect: cho biết đây là 1 view chuyển hướng (cụ thể là chuyển đến đường dẫn </a:t>
            </a:r>
            <a:r>
              <a:rPr i="1" lang="en-US" sz="2400">
                <a:solidFill>
                  <a:schemeClr val="dk1"/>
                </a:solidFill>
                <a:latin typeface="Arial"/>
                <a:ea typeface="Arial"/>
                <a:cs typeface="Arial"/>
                <a:sym typeface="Arial"/>
              </a:rPr>
              <a:t>/orders/current</a:t>
            </a:r>
            <a:r>
              <a:rPr lang="en-US" sz="2400">
                <a:solidFill>
                  <a:schemeClr val="dk1"/>
                </a:solidFill>
                <a:latin typeface="Arial"/>
                <a:ea typeface="Arial"/>
                <a:cs typeface="Arial"/>
                <a:sym typeface="Arial"/>
              </a:rPr>
              <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10" name="Google Shape;410;p44"/>
          <p:cNvSpPr txBox="1"/>
          <p:nvPr/>
        </p:nvSpPr>
        <p:spPr>
          <a:xfrm>
            <a:off x="685800" y="304800"/>
            <a:ext cx="15605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Taco</a:t>
            </a:r>
            <a:endParaRPr b="1" sz="2400">
              <a:solidFill>
                <a:schemeClr val="accent2"/>
              </a:solidFill>
              <a:latin typeface="Arial"/>
              <a:ea typeface="Arial"/>
              <a:cs typeface="Arial"/>
              <a:sym typeface="Arial"/>
            </a:endParaRPr>
          </a:p>
        </p:txBody>
      </p:sp>
      <p:sp>
        <p:nvSpPr>
          <p:cNvPr id="411" name="Google Shape;411;p44"/>
          <p:cNvSpPr txBox="1"/>
          <p:nvPr/>
        </p:nvSpPr>
        <p:spPr>
          <a:xfrm>
            <a:off x="762000" y="990600"/>
            <a:ext cx="7924800" cy="538609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Là lớp thực thể lưu thiết kế bánh</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Click chuột phải tacos, chọn New -&gt; Class. Đặt tên là Taco (lưu ý thư viện Lombok tiếp tục được sử dụng để tự động tạo hàm constructor và get/set):</a:t>
            </a:r>
            <a:endParaRPr/>
          </a:p>
          <a:p>
            <a:pPr indent="-190500" lvl="0" marL="342900" marR="0" rtl="0" algn="l">
              <a:lnSpc>
                <a:spcPct val="120000"/>
              </a:lnSpc>
              <a:spcBef>
                <a:spcPts val="0"/>
              </a:spcBef>
              <a:spcAft>
                <a:spcPts val="0"/>
              </a:spcAft>
              <a:buClr>
                <a:schemeClr val="dk1"/>
              </a:buClr>
              <a:buSzPts val="2400"/>
              <a:buFont typeface="Times New Roman"/>
              <a:buNone/>
            </a:pPr>
            <a:r>
              <a:t/>
            </a:r>
            <a:endParaRPr sz="2400">
              <a:solidFill>
                <a:schemeClr val="dk1"/>
              </a:solidFill>
              <a:latin typeface="Arial"/>
              <a:ea typeface="Arial"/>
              <a:cs typeface="Arial"/>
              <a:sym typeface="Arial"/>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Package tacos;</a:t>
            </a:r>
            <a:endParaRPr/>
          </a:p>
          <a:p>
            <a:pPr indent="-342900" lvl="1" marL="800100" marR="0" rtl="0" algn="l">
              <a:spcBef>
                <a:spcPts val="0"/>
              </a:spcBef>
              <a:spcAft>
                <a:spcPts val="0"/>
              </a:spcAft>
              <a:buNone/>
            </a:pPr>
            <a:r>
              <a:t/>
            </a:r>
            <a:endParaRPr b="0" i="0" sz="20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import java.util.List;</a:t>
            </a:r>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import lombok.Data;</a:t>
            </a:r>
            <a:endParaRPr/>
          </a:p>
          <a:p>
            <a:pPr indent="-342900" lvl="1" marL="800100" marR="0" rtl="0" algn="l">
              <a:spcBef>
                <a:spcPts val="0"/>
              </a:spcBef>
              <a:spcAft>
                <a:spcPts val="0"/>
              </a:spcAft>
              <a:buNone/>
            </a:pPr>
            <a:r>
              <a:t/>
            </a:r>
            <a:endParaRPr b="0" i="0" sz="20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@Data</a:t>
            </a:r>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public class Taco {</a:t>
            </a:r>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	private String name;</a:t>
            </a:r>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	private List&lt;String&gt; ingredients;</a:t>
            </a:r>
            <a:endParaRPr/>
          </a:p>
          <a:p>
            <a:pPr indent="-342900" lvl="1" marL="800100" marR="0" rtl="0" algn="l">
              <a:spcBef>
                <a:spcPts val="0"/>
              </a:spcBef>
              <a:spcAft>
                <a:spcPts val="0"/>
              </a:spcAft>
              <a:buNone/>
            </a:pPr>
            <a:r>
              <a:rPr b="0" i="0" lang="en-US" sz="20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17" name="Google Shape;417;p45"/>
          <p:cNvSpPr txBox="1"/>
          <p:nvPr/>
        </p:nvSpPr>
        <p:spPr>
          <a:xfrm>
            <a:off x="685800" y="304800"/>
            <a:ext cx="31734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OrderController</a:t>
            </a:r>
            <a:endParaRPr b="1" sz="2400">
              <a:solidFill>
                <a:schemeClr val="accent2"/>
              </a:solidFill>
              <a:latin typeface="Arial"/>
              <a:ea typeface="Arial"/>
              <a:cs typeface="Arial"/>
              <a:sym typeface="Arial"/>
            </a:endParaRPr>
          </a:p>
        </p:txBody>
      </p:sp>
      <p:sp>
        <p:nvSpPr>
          <p:cNvPr id="418" name="Google Shape;418;p45"/>
          <p:cNvSpPr txBox="1"/>
          <p:nvPr/>
        </p:nvSpPr>
        <p:spPr>
          <a:xfrm>
            <a:off x="533400" y="990600"/>
            <a:ext cx="8305800" cy="5558446"/>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600">
                <a:solidFill>
                  <a:schemeClr val="dk1"/>
                </a:solidFill>
                <a:latin typeface="Courier New"/>
                <a:ea typeface="Courier New"/>
                <a:cs typeface="Courier New"/>
                <a:sym typeface="Courier New"/>
              </a:rPr>
              <a:t>   package tacos.web;</a:t>
            </a:r>
            <a:endParaRPr/>
          </a:p>
          <a:p>
            <a:pPr indent="-444500" lvl="1" marL="8001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javax.validation.Valid;</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org.springframework.stereotype.Controller;</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org.springframework.ui.Model;</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org.springframework.validation.Errors;</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org.springframework.web.bind.annotation.GetMapping;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org.springframework.web.bind.annotation.PostMapping;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org.springframework.web.bind.annotation.RequestMapping;</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lombok.extern.slf4j.Slf4j;</a:t>
            </a:r>
            <a:endParaRPr/>
          </a:p>
          <a:p>
            <a:pPr indent="-4445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import tacos.Order;</a:t>
            </a:r>
            <a:endParaRPr/>
          </a:p>
          <a:p>
            <a:pPr indent="-342900" lvl="1" marL="8001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@Slf4j</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@Controller</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@RequestMapping("/orders")</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public class OrderController {</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@GetMapping("/current")</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public String orderForm(Model model) {</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model.addAttribute("order", new Order());</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return "orderForm";</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a:t>
            </a:r>
            <a:endParaRPr/>
          </a:p>
          <a:p>
            <a:pPr indent="-342900" lvl="1" marL="8001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24" name="Google Shape;424;p46"/>
          <p:cNvSpPr txBox="1"/>
          <p:nvPr/>
        </p:nvSpPr>
        <p:spPr>
          <a:xfrm>
            <a:off x="685800" y="304800"/>
            <a:ext cx="31734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OrderController</a:t>
            </a:r>
            <a:endParaRPr b="1" sz="2400">
              <a:solidFill>
                <a:schemeClr val="accent2"/>
              </a:solidFill>
              <a:latin typeface="Arial"/>
              <a:ea typeface="Arial"/>
              <a:cs typeface="Arial"/>
              <a:sym typeface="Arial"/>
            </a:endParaRPr>
          </a:p>
        </p:txBody>
      </p:sp>
      <p:sp>
        <p:nvSpPr>
          <p:cNvPr id="425" name="Google Shape;425;p46"/>
          <p:cNvSpPr txBox="1"/>
          <p:nvPr/>
        </p:nvSpPr>
        <p:spPr>
          <a:xfrm>
            <a:off x="762000" y="990600"/>
            <a:ext cx="7924800" cy="488133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Là lớp Controller tạo form đặt hàng tại đường dẫn </a:t>
            </a:r>
            <a:r>
              <a:rPr lang="en-US" sz="2200">
                <a:solidFill>
                  <a:schemeClr val="dk1"/>
                </a:solidFill>
                <a:latin typeface="Courier New"/>
                <a:ea typeface="Courier New"/>
                <a:cs typeface="Courier New"/>
                <a:sym typeface="Courier New"/>
              </a:rPr>
              <a:t>/orders/current</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Lưu ý chú giải </a:t>
            </a:r>
            <a:r>
              <a:rPr lang="en-US" sz="2200">
                <a:solidFill>
                  <a:schemeClr val="dk1"/>
                </a:solidFill>
                <a:latin typeface="Courier New"/>
                <a:ea typeface="Courier New"/>
                <a:cs typeface="Courier New"/>
                <a:sym typeface="Courier New"/>
              </a:rPr>
              <a:t>@RequestMapping(“/orders”) </a:t>
            </a:r>
            <a:r>
              <a:rPr lang="en-US" sz="2400">
                <a:solidFill>
                  <a:schemeClr val="dk1"/>
                </a:solidFill>
                <a:latin typeface="Arial"/>
                <a:ea typeface="Arial"/>
                <a:cs typeface="Arial"/>
                <a:sym typeface="Arial"/>
              </a:rPr>
              <a:t>mức class kết hợp với </a:t>
            </a:r>
            <a:r>
              <a:rPr lang="en-US" sz="2200">
                <a:solidFill>
                  <a:schemeClr val="dk1"/>
                </a:solidFill>
                <a:latin typeface="Courier New"/>
                <a:ea typeface="Courier New"/>
                <a:cs typeface="Courier New"/>
                <a:sym typeface="Courier New"/>
              </a:rPr>
              <a:t>@GetMapping(“/current”) </a:t>
            </a:r>
            <a:r>
              <a:rPr lang="en-US" sz="2400">
                <a:solidFill>
                  <a:schemeClr val="dk1"/>
                </a:solidFill>
                <a:latin typeface="Arial"/>
                <a:ea typeface="Arial"/>
                <a:cs typeface="Arial"/>
                <a:sym typeface="Arial"/>
              </a:rPr>
              <a:t>của phương thức sẽ ấn định phương thức orderForm() sẽ được gọi để xử lý các request đến URL </a:t>
            </a:r>
            <a:r>
              <a:rPr lang="en-US" sz="2200">
                <a:solidFill>
                  <a:schemeClr val="dk1"/>
                </a:solidFill>
                <a:latin typeface="Courier New"/>
                <a:ea typeface="Courier New"/>
                <a:cs typeface="Courier New"/>
                <a:sym typeface="Courier New"/>
              </a:rPr>
              <a:t>/orders/current</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Phương thức orderForm() chỉ thực hiện tạo một đối tượng Order rỗng vào lưu vào Model (sẽ bổ sung thêm xử lý ở phần sau), và trả về tên view là orderForm.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31" name="Google Shape;431;p47"/>
          <p:cNvSpPr txBox="1"/>
          <p:nvPr/>
        </p:nvSpPr>
        <p:spPr>
          <a:xfrm>
            <a:off x="685800" y="304800"/>
            <a:ext cx="17033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Lớp Order</a:t>
            </a:r>
            <a:endParaRPr b="1" sz="2400">
              <a:solidFill>
                <a:schemeClr val="accent2"/>
              </a:solidFill>
              <a:latin typeface="Arial"/>
              <a:ea typeface="Arial"/>
              <a:cs typeface="Arial"/>
              <a:sym typeface="Arial"/>
            </a:endParaRPr>
          </a:p>
        </p:txBody>
      </p:sp>
      <p:sp>
        <p:nvSpPr>
          <p:cNvPr id="432" name="Google Shape;432;p47"/>
          <p:cNvSpPr txBox="1"/>
          <p:nvPr/>
        </p:nvSpPr>
        <p:spPr>
          <a:xfrm>
            <a:off x="762000" y="838200"/>
            <a:ext cx="7924800" cy="580774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Là lớp thực thể đại diện cho đơn đặt hàng</a:t>
            </a:r>
            <a:endParaRPr/>
          </a:p>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Click chuột phải tacos, chọn New -&gt; Class. Đặt tên là Order:</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package tacos;</a:t>
            </a:r>
            <a:endParaRPr/>
          </a:p>
          <a:p>
            <a:pPr indent="-342900" lvl="1" marL="800100" marR="0" rtl="0" algn="l">
              <a:spcBef>
                <a:spcPts val="0"/>
              </a:spcBef>
              <a:spcAft>
                <a:spcPts val="0"/>
              </a:spcAft>
              <a:buNone/>
            </a:pPr>
            <a:r>
              <a:t/>
            </a:r>
            <a:endParaRPr b="0" i="0" sz="15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import javax.validation.constraints.Digits;</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import javax.validation.constraints.Pattern;</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import org.hibernate.validator.constraints.CreditCardNumber;</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import org.hibernate.validator.constraints.NotBlank;</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import lombok.Data;</a:t>
            </a:r>
            <a:endParaRPr/>
          </a:p>
          <a:p>
            <a:pPr indent="-342900" lvl="1" marL="800100" marR="0" rtl="0" algn="l">
              <a:spcBef>
                <a:spcPts val="0"/>
              </a:spcBef>
              <a:spcAft>
                <a:spcPts val="0"/>
              </a:spcAft>
              <a:buNone/>
            </a:pPr>
            <a:r>
              <a:t/>
            </a:r>
            <a:endParaRPr b="0" i="0" sz="15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@Data</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public class Order {</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name;</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street;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city;</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state;</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zip;</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ccNumber;</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ccExpiration;</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private String ccCVV;</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a:t>
            </a:r>
            <a:endParaRPr b="0" i="0" sz="1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38" name="Google Shape;438;p48"/>
          <p:cNvSpPr txBox="1"/>
          <p:nvPr/>
        </p:nvSpPr>
        <p:spPr>
          <a:xfrm>
            <a:off x="685800" y="304800"/>
            <a:ext cx="41497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Trang view orderForm.html</a:t>
            </a:r>
            <a:endParaRPr b="1" sz="2400">
              <a:solidFill>
                <a:schemeClr val="accent2"/>
              </a:solidFill>
              <a:latin typeface="Arial"/>
              <a:ea typeface="Arial"/>
              <a:cs typeface="Arial"/>
              <a:sym typeface="Arial"/>
            </a:endParaRPr>
          </a:p>
        </p:txBody>
      </p:sp>
      <p:sp>
        <p:nvSpPr>
          <p:cNvPr id="439" name="Google Shape;439;p48"/>
          <p:cNvSpPr txBox="1"/>
          <p:nvPr/>
        </p:nvSpPr>
        <p:spPr>
          <a:xfrm>
            <a:off x="762000" y="1143000"/>
            <a:ext cx="7924800" cy="4708981"/>
          </a:xfrm>
          <a:prstGeom prst="rect">
            <a:avLst/>
          </a:prstGeom>
          <a:noFill/>
          <a:ln>
            <a:noFill/>
          </a:ln>
        </p:spPr>
        <p:txBody>
          <a:bodyPr anchorCtr="0" anchor="t" bIns="45700" lIns="91425" spcFirstLastPara="1" rIns="91425" wrap="square" tIns="45700">
            <a:spAutoFit/>
          </a:bodyPr>
          <a:lstStyle/>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&lt;!DOCTYPE html&gt;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&lt;html xmlns="http://www.w3.org/1999/xhtml"</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xmlns:th="http://www.thymeleaf.org"&gt;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&lt;head&gt;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&lt;title&gt;Taco Cloud&lt;/title&gt;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&lt;link rel="stylesheet" th:href="@{/styles.css}" /&gt;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&lt;/head&gt;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&lt;body&gt;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&lt;form method="POST" th:action="@{/orders}" th:object="${order}"&gt;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&lt;h1&gt;Order your taco creations!&lt;/h1&gt;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&lt;img th:src="@{/images/TacoCloud.png}"/&gt;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&lt;a th:href="@{/design}" id="another"&gt;Design another taco&lt;/a&gt;&lt;br/&gt;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&lt;div th:if="${#fields.hasErrors()}"&gt;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&lt;span class="validationError"&gt;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Please correct the problems below and resubmit.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&lt;/span&gt;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&lt;/div&gt;</a:t>
            </a:r>
            <a:endParaRPr b="0" i="0" sz="1500" u="none" cap="none" strike="noStrike">
              <a:solidFill>
                <a:schemeClr val="dk1"/>
              </a:solidFill>
              <a:latin typeface="Courier New"/>
              <a:ea typeface="Courier New"/>
              <a:cs typeface="Courier New"/>
              <a:sym typeface="Courier New"/>
            </a:endParaRPr>
          </a:p>
          <a:p>
            <a:pPr indent="-342900" lvl="1" marL="800100" marR="0" rtl="0" algn="l">
              <a:spcBef>
                <a:spcPts val="0"/>
              </a:spcBef>
              <a:spcAft>
                <a:spcPts val="0"/>
              </a:spcAft>
              <a:buNone/>
            </a:pPr>
            <a:r>
              <a:t/>
            </a:r>
            <a:endParaRPr b="0" i="0" sz="1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45" name="Google Shape;445;p49"/>
          <p:cNvSpPr txBox="1"/>
          <p:nvPr/>
        </p:nvSpPr>
        <p:spPr>
          <a:xfrm>
            <a:off x="685800" y="304800"/>
            <a:ext cx="41497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Trang view orderForm.html</a:t>
            </a:r>
            <a:endParaRPr b="1" sz="2400">
              <a:solidFill>
                <a:schemeClr val="accent2"/>
              </a:solidFill>
              <a:latin typeface="Arial"/>
              <a:ea typeface="Arial"/>
              <a:cs typeface="Arial"/>
              <a:sym typeface="Arial"/>
            </a:endParaRPr>
          </a:p>
        </p:txBody>
      </p:sp>
      <p:sp>
        <p:nvSpPr>
          <p:cNvPr id="446" name="Google Shape;446;p49"/>
          <p:cNvSpPr txBox="1"/>
          <p:nvPr/>
        </p:nvSpPr>
        <p:spPr>
          <a:xfrm>
            <a:off x="762000" y="1143000"/>
            <a:ext cx="7924800" cy="5170646"/>
          </a:xfrm>
          <a:prstGeom prst="rect">
            <a:avLst/>
          </a:prstGeom>
          <a:noFill/>
          <a:ln>
            <a:noFill/>
          </a:ln>
        </p:spPr>
        <p:txBody>
          <a:bodyPr anchorCtr="0" anchor="t" bIns="45700" lIns="91425" spcFirstLastPara="1" rIns="91425" wrap="square" tIns="45700">
            <a:spAutoFit/>
          </a:bodyPr>
          <a:lstStyle/>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&lt;h3&gt;Deliver my taco masterpieces to...&lt;/h3&gt;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for="name"&gt;Name: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th:field="*{name}"/&gt;&lt;br/&gt;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for="street"&gt;Street address: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th:field="*{street}"/&gt;&lt;br/&gt;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for="city"&gt;City: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th:field="*{city}"/&gt;&lt;br/&gt;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for="state"&gt;State: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th:field="*{state}"/&gt;&lt;br/&gt;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for="zip"&gt;Zip code: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th:field="*{zip}"/&gt;&lt;br/&gt;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&lt;h3&gt;Here's how I'll pay...&lt;/h3&gt;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for="ccNumber"&gt;Credit Card #: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th:field="*{ccNumber}"/&gt;&lt;br/&gt;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for="ccExpiration"&gt;Expiration: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th:field="*{ccExpiration}"/&gt;&lt;br/&gt;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&lt;label for="ccCVV"&gt;CVV: &lt;/label&gt;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type="text" th:field="*{ccCVV}"/&gt;&lt;br/&gt;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&lt;input type="submit" value="Submit order"/&gt;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    &lt;/form&gt;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&lt;/body&gt;</a:t>
            </a:r>
            <a:endParaRPr/>
          </a:p>
          <a:p>
            <a:pPr indent="-342900" lvl="1" marL="800100" marR="0" rtl="0" algn="l">
              <a:spcBef>
                <a:spcPts val="0"/>
              </a:spcBef>
              <a:spcAft>
                <a:spcPts val="0"/>
              </a:spcAft>
              <a:buNone/>
            </a:pPr>
            <a:r>
              <a:rPr b="0" i="0" lang="en-US" sz="1500" u="none" cap="none" strike="noStrike">
                <a:solidFill>
                  <a:schemeClr val="dk1"/>
                </a:solidFill>
                <a:latin typeface="Courier New"/>
                <a:ea typeface="Courier New"/>
                <a:cs typeface="Courier New"/>
                <a:sym typeface="Courier New"/>
              </a:rPr>
              <a:t>&lt;/html&gt;</a:t>
            </a:r>
            <a:endParaRPr b="0" i="0" sz="1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0"/>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52" name="Google Shape;452;p50"/>
          <p:cNvSpPr txBox="1"/>
          <p:nvPr/>
        </p:nvSpPr>
        <p:spPr>
          <a:xfrm>
            <a:off x="685800" y="304800"/>
            <a:ext cx="496570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Kết qủa giao diện trang đặt hàng</a:t>
            </a:r>
            <a:endParaRPr b="1" sz="2400">
              <a:solidFill>
                <a:schemeClr val="accent2"/>
              </a:solidFill>
              <a:latin typeface="Arial"/>
              <a:ea typeface="Arial"/>
              <a:cs typeface="Arial"/>
              <a:sym typeface="Arial"/>
            </a:endParaRPr>
          </a:p>
        </p:txBody>
      </p:sp>
      <p:pic>
        <p:nvPicPr>
          <p:cNvPr id="453" name="Google Shape;453;p50"/>
          <p:cNvPicPr preferRelativeResize="0"/>
          <p:nvPr/>
        </p:nvPicPr>
        <p:blipFill rotWithShape="1">
          <a:blip r:embed="rId3">
            <a:alphaModFix/>
          </a:blip>
          <a:srcRect b="0" l="0" r="0" t="0"/>
          <a:stretch/>
        </p:blipFill>
        <p:spPr>
          <a:xfrm>
            <a:off x="1752600" y="792163"/>
            <a:ext cx="5346700" cy="586581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59" name="Google Shape;459;p51"/>
          <p:cNvSpPr txBox="1"/>
          <p:nvPr/>
        </p:nvSpPr>
        <p:spPr>
          <a:xfrm>
            <a:off x="685800" y="304800"/>
            <a:ext cx="30892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Xử lý form đặt hàng</a:t>
            </a:r>
            <a:endParaRPr b="1" sz="2400">
              <a:solidFill>
                <a:schemeClr val="accent2"/>
              </a:solidFill>
              <a:latin typeface="Arial"/>
              <a:ea typeface="Arial"/>
              <a:cs typeface="Arial"/>
              <a:sym typeface="Arial"/>
            </a:endParaRPr>
          </a:p>
        </p:txBody>
      </p:sp>
      <p:sp>
        <p:nvSpPr>
          <p:cNvPr id="460" name="Google Shape;460;p51"/>
          <p:cNvSpPr txBox="1"/>
          <p:nvPr/>
        </p:nvSpPr>
        <p:spPr>
          <a:xfrm>
            <a:off x="676275" y="914400"/>
            <a:ext cx="7924800" cy="5078313"/>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Form:</a:t>
            </a:r>
            <a:endParaRPr/>
          </a:p>
          <a:p>
            <a:pPr indent="-342900" lvl="1" marL="8001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Method: POST</a:t>
            </a:r>
            <a:endParaRPr/>
          </a:p>
          <a:p>
            <a:pPr indent="-342900" lvl="1" marL="800100" marR="0" rtl="0" algn="l">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Action: /orders</a:t>
            </a:r>
            <a:endParaRPr/>
          </a:p>
          <a:p>
            <a:pPr indent="-342900" lvl="1" marL="80010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Viết thêm phương thức xử lý POST request trong OrderController (phương thức này tạm thời chưa xử ý gì và chỉ ghi thông tin vào log):</a:t>
            </a:r>
            <a:endParaRPr/>
          </a:p>
          <a:p>
            <a:pPr indent="-190500" lvl="0" marL="342900" marR="0" rtl="0" algn="l">
              <a:spcBef>
                <a:spcPts val="0"/>
              </a:spcBef>
              <a:spcAft>
                <a:spcPts val="0"/>
              </a:spcAft>
              <a:buClr>
                <a:schemeClr val="dk1"/>
              </a:buClr>
              <a:buSzPts val="2400"/>
              <a:buFont typeface="Times New Roman"/>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Courier New"/>
                <a:ea typeface="Courier New"/>
                <a:cs typeface="Courier New"/>
                <a:sym typeface="Courier New"/>
              </a:rPr>
              <a:t>	</a:t>
            </a:r>
            <a:r>
              <a:rPr lang="en-US" sz="1800">
                <a:solidFill>
                  <a:schemeClr val="dk1"/>
                </a:solidFill>
                <a:latin typeface="Courier New"/>
                <a:ea typeface="Courier New"/>
                <a:cs typeface="Courier New"/>
                <a:sym typeface="Courier New"/>
              </a:rPr>
              <a:t>@PostMapping</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public String processOrder(Order order) {</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log.info("Order submitted: " + order);</a:t>
            </a:r>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return "redirect:/";</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ourier New"/>
                <a:ea typeface="Courier New"/>
                <a:cs typeface="Courier New"/>
                <a:sym typeface="Courier New"/>
              </a:rPr>
              <a:t>	}</a:t>
            </a:r>
            <a:endParaRPr sz="1800">
              <a:solidFill>
                <a:schemeClr val="dk1"/>
              </a:solidFill>
              <a:latin typeface="Courier New"/>
              <a:ea typeface="Courier New"/>
              <a:cs typeface="Courier New"/>
              <a:sym typeface="Courier New"/>
            </a:endParaRPr>
          </a:p>
          <a:p>
            <a:pPr indent="0" lvl="1" marL="80010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190500" lvl="0" marL="342900" marR="0" rtl="0" algn="l">
              <a:spcBef>
                <a:spcPts val="0"/>
              </a:spcBef>
              <a:spcAft>
                <a:spcPts val="0"/>
              </a:spcAft>
              <a:buClr>
                <a:schemeClr val="dk1"/>
              </a:buClr>
              <a:buSzPts val="2400"/>
              <a:buFont typeface="Times New Roman"/>
              <a:buNone/>
            </a:pPr>
            <a:r>
              <a:t/>
            </a:r>
            <a:endParaRPr sz="2400">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66" name="Google Shape;466;p52"/>
          <p:cNvSpPr txBox="1"/>
          <p:nvPr/>
        </p:nvSpPr>
        <p:spPr>
          <a:xfrm>
            <a:off x="685800" y="304800"/>
            <a:ext cx="239094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Data Validation</a:t>
            </a:r>
            <a:endParaRPr b="1" sz="2400">
              <a:solidFill>
                <a:schemeClr val="accent2"/>
              </a:solidFill>
              <a:latin typeface="Arial"/>
              <a:ea typeface="Arial"/>
              <a:cs typeface="Arial"/>
              <a:sym typeface="Arial"/>
            </a:endParaRPr>
          </a:p>
        </p:txBody>
      </p:sp>
      <p:sp>
        <p:nvSpPr>
          <p:cNvPr id="467" name="Google Shape;467;p52"/>
          <p:cNvSpPr txBox="1"/>
          <p:nvPr/>
        </p:nvSpPr>
        <p:spPr>
          <a:xfrm>
            <a:off x="676275" y="914400"/>
            <a:ext cx="7924800" cy="593188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Spring hỗ trợ Java Bean’s Validation API, nhờ đó có thể dễ dàng đưa vào các thao tác kiểm tra dữ liệu nhập mà không cần phải viết mã cho các hoạt động kiểm tra. </a:t>
            </a:r>
            <a:endParaRPr/>
          </a:p>
          <a:p>
            <a:pPr indent="-342900" lvl="0" marL="342900" marR="0" rtl="0" algn="l">
              <a:lnSpc>
                <a:spcPct val="12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Các bước để thực hiện data validation:</a:t>
            </a:r>
            <a:endParaRPr/>
          </a:p>
          <a:p>
            <a:pPr indent="-342900" lvl="1" marL="800100" marR="0" rtl="0" algn="l">
              <a:lnSpc>
                <a:spcPct val="120000"/>
              </a:lnSpc>
              <a:spcBef>
                <a:spcPts val="6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Khai báo các quy định về kiểm tra dữ liệu nhập trong các lớp thực thể. VD các lớp Taco, lớp Order</a:t>
            </a:r>
            <a:endParaRPr/>
          </a:p>
          <a:p>
            <a:pPr indent="-342900" lvl="1" marL="800100" marR="0" rtl="0" algn="l">
              <a:lnSpc>
                <a:spcPct val="120000"/>
              </a:lnSpc>
              <a:spcBef>
                <a:spcPts val="6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Ấn định việc các hoạt động data validation sẽ được thực hiện trong các phương thức của controller. VD các phương thức processDesign(), processOrder()</a:t>
            </a:r>
            <a:endParaRPr/>
          </a:p>
          <a:p>
            <a:pPr indent="-342900" lvl="1" marL="800100" marR="0" rtl="0" algn="l">
              <a:lnSpc>
                <a:spcPct val="120000"/>
              </a:lnSpc>
              <a:spcBef>
                <a:spcPts val="6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Cập nhật các views để đưa vào các kiểm tra và thông báo lỗi</a:t>
            </a:r>
            <a:endParaRPr/>
          </a:p>
          <a:p>
            <a:pPr indent="-203200" lvl="0" marL="342900" marR="0" rtl="0" algn="l">
              <a:lnSpc>
                <a:spcPct val="120000"/>
              </a:lnSpc>
              <a:spcBef>
                <a:spcPts val="600"/>
              </a:spcBef>
              <a:spcAft>
                <a:spcPts val="0"/>
              </a:spcAft>
              <a:buClr>
                <a:schemeClr val="dk1"/>
              </a:buClr>
              <a:buSzPts val="2200"/>
              <a:buFont typeface="Times New Roman"/>
              <a:buNone/>
            </a:pPr>
            <a:r>
              <a:t/>
            </a:r>
            <a:endParaRPr sz="2200">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3"/>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73" name="Google Shape;473;p53"/>
          <p:cNvSpPr txBox="1"/>
          <p:nvPr/>
        </p:nvSpPr>
        <p:spPr>
          <a:xfrm>
            <a:off x="685800" y="304800"/>
            <a:ext cx="36916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Quy tắc kiểm tra dữ liệu</a:t>
            </a:r>
            <a:endParaRPr b="1" sz="2400">
              <a:solidFill>
                <a:schemeClr val="accent2"/>
              </a:solidFill>
              <a:latin typeface="Arial"/>
              <a:ea typeface="Arial"/>
              <a:cs typeface="Arial"/>
              <a:sym typeface="Arial"/>
            </a:endParaRPr>
          </a:p>
        </p:txBody>
      </p:sp>
      <p:sp>
        <p:nvSpPr>
          <p:cNvPr id="474" name="Google Shape;474;p53"/>
          <p:cNvSpPr txBox="1"/>
          <p:nvPr/>
        </p:nvSpPr>
        <p:spPr>
          <a:xfrm>
            <a:off x="676274" y="914400"/>
            <a:ext cx="8239125" cy="533171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Lớp Taco</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package tacos;</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java.util.List;</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javax.validation.constraints.NotNull;</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javax.validation.constraints.Size;</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lombok.Data;</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@Data</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public class Taco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@NotNull</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@Size(min=5, message="Name must be at least 5 characters long")</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name;</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@Size(min=1, message="You must choose at least 1 ingredient")</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List&lt;String&gt; ingredients;</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4"/>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80" name="Google Shape;480;p54"/>
          <p:cNvSpPr txBox="1"/>
          <p:nvPr/>
        </p:nvSpPr>
        <p:spPr>
          <a:xfrm>
            <a:off x="685800" y="304800"/>
            <a:ext cx="36916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Quy tắc kiểm tra dữ liệu</a:t>
            </a:r>
            <a:endParaRPr b="1" sz="2400">
              <a:solidFill>
                <a:schemeClr val="accent2"/>
              </a:solidFill>
              <a:latin typeface="Arial"/>
              <a:ea typeface="Arial"/>
              <a:cs typeface="Arial"/>
              <a:sym typeface="Arial"/>
            </a:endParaRPr>
          </a:p>
        </p:txBody>
      </p:sp>
      <p:sp>
        <p:nvSpPr>
          <p:cNvPr id="481" name="Google Shape;481;p54"/>
          <p:cNvSpPr txBox="1"/>
          <p:nvPr/>
        </p:nvSpPr>
        <p:spPr>
          <a:xfrm>
            <a:off x="676274" y="914400"/>
            <a:ext cx="8239125" cy="533171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Lớp Order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package tacos;</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javax.validation.constraints.Digits;</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javax.validation.constraints.Pattern;</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org.hibernate.validator.constraints.CreditCardNumber;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javax.validation.constraints.NotBlank;</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import lombok.Data;</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@Data</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public class Order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@NotBlank(message="Name is required")</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name;</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@NotBlank(message="Street is required")</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street;</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5"/>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87" name="Google Shape;487;p55"/>
          <p:cNvSpPr txBox="1"/>
          <p:nvPr/>
        </p:nvSpPr>
        <p:spPr>
          <a:xfrm>
            <a:off x="685800" y="304800"/>
            <a:ext cx="369163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Quy tắc kiểm tra dữ liệu</a:t>
            </a:r>
            <a:endParaRPr b="1" sz="2400">
              <a:solidFill>
                <a:schemeClr val="accent2"/>
              </a:solidFill>
              <a:latin typeface="Arial"/>
              <a:ea typeface="Arial"/>
              <a:cs typeface="Arial"/>
              <a:sym typeface="Arial"/>
            </a:endParaRPr>
          </a:p>
        </p:txBody>
      </p:sp>
      <p:sp>
        <p:nvSpPr>
          <p:cNvPr id="488" name="Google Shape;488;p55"/>
          <p:cNvSpPr txBox="1"/>
          <p:nvPr/>
        </p:nvSpPr>
        <p:spPr>
          <a:xfrm>
            <a:off x="676274" y="914400"/>
            <a:ext cx="8239125" cy="5704126"/>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Lớp Order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@NotBlank(message="City is required")</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city;</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@NotBlank(message="State is required")</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state;</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@NotBlank(message="Zip code is required")</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zip;</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@CreditCardNumber(message="Not a valid credit card number")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ccNumber;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@Pattern(regexp="^(0[1-9]|1[0-2])([\\/])([1-9][0-9])$",</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message="Must be formatted MM/YY")</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ccExpiration;</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@Digits(integer=3, fraction=0, message="Invalid CVV")</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private String ccCVV;</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6"/>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494" name="Google Shape;494;p56"/>
          <p:cNvSpPr txBox="1"/>
          <p:nvPr/>
        </p:nvSpPr>
        <p:spPr>
          <a:xfrm>
            <a:off x="685800" y="304800"/>
            <a:ext cx="74483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Thực hiện validate ở các phương thức xử lý form</a:t>
            </a:r>
            <a:endParaRPr b="1" sz="2400">
              <a:solidFill>
                <a:schemeClr val="accent2"/>
              </a:solidFill>
              <a:latin typeface="Arial"/>
              <a:ea typeface="Arial"/>
              <a:cs typeface="Arial"/>
              <a:sym typeface="Arial"/>
            </a:endParaRPr>
          </a:p>
        </p:txBody>
      </p:sp>
      <p:sp>
        <p:nvSpPr>
          <p:cNvPr id="495" name="Google Shape;495;p56"/>
          <p:cNvSpPr txBox="1"/>
          <p:nvPr/>
        </p:nvSpPr>
        <p:spPr>
          <a:xfrm>
            <a:off x="676274" y="914400"/>
            <a:ext cx="8239125" cy="469769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Phương thức processDesign():</a:t>
            </a:r>
            <a:endParaRPr/>
          </a:p>
          <a:p>
            <a:pPr indent="-203200" lvl="0" marL="342900" marR="0" rtl="0" algn="l">
              <a:lnSpc>
                <a:spcPct val="120000"/>
              </a:lnSpc>
              <a:spcBef>
                <a:spcPts val="600"/>
              </a:spcBef>
              <a:spcAft>
                <a:spcPts val="0"/>
              </a:spcAft>
              <a:buClr>
                <a:schemeClr val="dk1"/>
              </a:buClr>
              <a:buSzPts val="2200"/>
              <a:buFont typeface="Times New Roman"/>
              <a:buNone/>
            </a:pPr>
            <a:r>
              <a:t/>
            </a:r>
            <a:endParaRPr sz="22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@PostMapping</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public String processDesign(@Valid Taco taco, Errors errors)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if (errors.hasErrors())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return "design";</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 Save the taco design...</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 We'll do this in later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log.info("Processing design: " + taco);</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return "redirect:/orders/current";</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7"/>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501" name="Google Shape;501;p57"/>
          <p:cNvSpPr txBox="1"/>
          <p:nvPr/>
        </p:nvSpPr>
        <p:spPr>
          <a:xfrm>
            <a:off x="685800" y="304800"/>
            <a:ext cx="74483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Thực hiện validate ở các phương thức xử lý form</a:t>
            </a:r>
            <a:endParaRPr b="1" sz="2400">
              <a:solidFill>
                <a:schemeClr val="accent2"/>
              </a:solidFill>
              <a:latin typeface="Arial"/>
              <a:ea typeface="Arial"/>
              <a:cs typeface="Arial"/>
              <a:sym typeface="Arial"/>
            </a:endParaRPr>
          </a:p>
        </p:txBody>
      </p:sp>
      <p:sp>
        <p:nvSpPr>
          <p:cNvPr id="502" name="Google Shape;502;p57"/>
          <p:cNvSpPr txBox="1"/>
          <p:nvPr/>
        </p:nvSpPr>
        <p:spPr>
          <a:xfrm>
            <a:off x="676274" y="914400"/>
            <a:ext cx="8239125" cy="395287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Phương thức processOrder():</a:t>
            </a:r>
            <a:endParaRPr/>
          </a:p>
          <a:p>
            <a:pPr indent="-203200" lvl="0" marL="342900" marR="0" rtl="0" algn="l">
              <a:lnSpc>
                <a:spcPct val="120000"/>
              </a:lnSpc>
              <a:spcBef>
                <a:spcPts val="600"/>
              </a:spcBef>
              <a:spcAft>
                <a:spcPts val="0"/>
              </a:spcAft>
              <a:buClr>
                <a:schemeClr val="dk1"/>
              </a:buClr>
              <a:buSzPts val="2200"/>
              <a:buFont typeface="Times New Roman"/>
              <a:buNone/>
            </a:pPr>
            <a:r>
              <a:t/>
            </a:r>
            <a:endParaRPr sz="22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@PostMapping</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public String processOrder(@Valid Order order, Errors errors)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if (errors.hasErrors())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return "orderForm";</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log.info("Order submitted: " + order);</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    return "redirect:/";</a:t>
            </a:r>
            <a:endParaRPr/>
          </a:p>
          <a:p>
            <a:pPr indent="0" lvl="0" marL="0" marR="0" rtl="0" algn="l">
              <a:lnSpc>
                <a:spcPct val="120000"/>
              </a:lnSpc>
              <a:spcBef>
                <a:spcPts val="600"/>
              </a:spcBef>
              <a:spcAft>
                <a:spcPts val="0"/>
              </a:spcAft>
              <a:buNone/>
            </a:pP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8"/>
          <p:cNvSpPr txBox="1"/>
          <p:nvPr>
            <p:ph idx="12" type="sldNum"/>
          </p:nvPr>
        </p:nvSpPr>
        <p:spPr>
          <a:xfrm>
            <a:off x="6553200" y="6248400"/>
            <a:ext cx="19050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r">
              <a:spcBef>
                <a:spcPts val="0"/>
              </a:spcBef>
              <a:spcAft>
                <a:spcPts val="0"/>
              </a:spcAft>
              <a:buNone/>
            </a:pPr>
            <a:r>
              <a:rPr lang="en-US" sz="1000">
                <a:solidFill>
                  <a:schemeClr val="dk1"/>
                </a:solidFill>
                <a:latin typeface="Times New Roman"/>
                <a:ea typeface="Times New Roman"/>
                <a:cs typeface="Times New Roman"/>
                <a:sym typeface="Times New Roman"/>
              </a:rPr>
              <a:t>Slide </a:t>
            </a:r>
            <a:fld id="{00000000-1234-1234-1234-123412341234}" type="slidenum">
              <a:rPr lang="en-US" sz="1000">
                <a:solidFill>
                  <a:schemeClr val="dk1"/>
                </a:solidFill>
                <a:latin typeface="Times New Roman"/>
                <a:ea typeface="Times New Roman"/>
                <a:cs typeface="Times New Roman"/>
                <a:sym typeface="Times New Roman"/>
              </a:rPr>
              <a:t>‹#›</a:t>
            </a:fld>
            <a:endParaRPr sz="1000">
              <a:solidFill>
                <a:schemeClr val="dk1"/>
              </a:solidFill>
              <a:latin typeface="Times New Roman"/>
              <a:ea typeface="Times New Roman"/>
              <a:cs typeface="Times New Roman"/>
              <a:sym typeface="Times New Roman"/>
            </a:endParaRPr>
          </a:p>
        </p:txBody>
      </p:sp>
      <p:sp>
        <p:nvSpPr>
          <p:cNvPr id="508" name="Google Shape;508;p58"/>
          <p:cNvSpPr txBox="1"/>
          <p:nvPr/>
        </p:nvSpPr>
        <p:spPr>
          <a:xfrm>
            <a:off x="685800" y="304800"/>
            <a:ext cx="467307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Arial"/>
                <a:ea typeface="Arial"/>
                <a:cs typeface="Arial"/>
                <a:sym typeface="Arial"/>
              </a:rPr>
              <a:t>Kiểm tra và hiển thị lỗi tại view</a:t>
            </a:r>
            <a:endParaRPr b="1" sz="2400">
              <a:solidFill>
                <a:schemeClr val="accent2"/>
              </a:solidFill>
              <a:latin typeface="Arial"/>
              <a:ea typeface="Arial"/>
              <a:cs typeface="Arial"/>
              <a:sym typeface="Arial"/>
            </a:endParaRPr>
          </a:p>
        </p:txBody>
      </p:sp>
      <p:sp>
        <p:nvSpPr>
          <p:cNvPr id="509" name="Google Shape;509;p58"/>
          <p:cNvSpPr txBox="1"/>
          <p:nvPr/>
        </p:nvSpPr>
        <p:spPr>
          <a:xfrm>
            <a:off x="676274" y="914400"/>
            <a:ext cx="8239125" cy="449866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2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Thymeleaf cung cấp khả năng kiểm tra và hiển thị lỗi qua thuộc tính fields và th:errors</a:t>
            </a:r>
            <a:endParaRPr/>
          </a:p>
          <a:p>
            <a:pPr indent="-342900" lvl="0" marL="342900" marR="0" rtl="0" algn="l">
              <a:lnSpc>
                <a:spcPct val="120000"/>
              </a:lnSpc>
              <a:spcBef>
                <a:spcPts val="600"/>
              </a:spcBef>
              <a:spcAft>
                <a:spcPts val="0"/>
              </a:spcAft>
              <a:buClr>
                <a:schemeClr val="dk1"/>
              </a:buClr>
              <a:buSzPts val="2200"/>
              <a:buFont typeface="Arial"/>
              <a:buChar char="•"/>
            </a:pPr>
            <a:r>
              <a:rPr lang="en-US" sz="2200">
                <a:solidFill>
                  <a:schemeClr val="dk1"/>
                </a:solidFill>
                <a:latin typeface="Arial"/>
                <a:ea typeface="Arial"/>
                <a:cs typeface="Arial"/>
                <a:sym typeface="Arial"/>
              </a:rPr>
              <a:t>VD muốn hiển thị lỗi nhập liệu cho trường Credit Card Number, bổ sung thẻ &lt;span&gt; với các thuộc tính if và errors:</a:t>
            </a:r>
            <a:endParaRPr/>
          </a:p>
          <a:p>
            <a:pPr indent="-203200" lvl="0" marL="342900" marR="0" rtl="0" algn="l">
              <a:lnSpc>
                <a:spcPct val="120000"/>
              </a:lnSpc>
              <a:spcBef>
                <a:spcPts val="600"/>
              </a:spcBef>
              <a:spcAft>
                <a:spcPts val="0"/>
              </a:spcAft>
              <a:buClr>
                <a:schemeClr val="dk1"/>
              </a:buClr>
              <a:buSzPts val="2200"/>
              <a:buFont typeface="Times New Roman"/>
              <a:buNone/>
            </a:pPr>
            <a:r>
              <a:t/>
            </a:r>
            <a:endParaRPr sz="2200">
              <a:solidFill>
                <a:schemeClr val="dk1"/>
              </a:solidFill>
              <a:latin typeface="Arial"/>
              <a:ea typeface="Arial"/>
              <a:cs typeface="Arial"/>
              <a:sym typeface="Arial"/>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&lt;label for="ccNumber"&gt;Credit Card #: &lt;/label&gt;</a:t>
            </a:r>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  &lt;input type="text" th:field="*{ccNumber}"/&gt;</a:t>
            </a:r>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  &lt;span class="validationError"</a:t>
            </a:r>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    th:if="${#fields.hasErrors('ccNumber')}"</a:t>
            </a:r>
            <a:endParaRPr/>
          </a:p>
          <a:p>
            <a:pPr indent="0" lvl="0" marL="0" marR="0" rtl="0" algn="l">
              <a:lnSpc>
                <a:spcPct val="120000"/>
              </a:lnSpc>
              <a:spcBef>
                <a:spcPts val="600"/>
              </a:spcBef>
              <a:spcAft>
                <a:spcPts val="0"/>
              </a:spcAft>
              <a:buNone/>
            </a:pPr>
            <a:r>
              <a:rPr lang="en-US" sz="2000">
                <a:solidFill>
                  <a:schemeClr val="dk1"/>
                </a:solidFill>
                <a:latin typeface="Courier New"/>
                <a:ea typeface="Courier New"/>
                <a:cs typeface="Courier New"/>
                <a:sym typeface="Courier New"/>
              </a:rPr>
              <a:t>    th:errors="*{ccNumber}"&gt;CC Num Error&lt;/span&gt;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slides">
  <a:themeElements>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2019-11-12T15:22:33Z</dcterms:created>
  <dc:creator>Duc</dc:creator>
</cp:coreProperties>
</file>